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1" r:id="rId1"/>
  </p:sldMasterIdLst>
  <p:notesMasterIdLst>
    <p:notesMasterId r:id="rId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151" autoAdjust="0"/>
    <p:restoredTop sz="94660" autoAdjust="0"/>
  </p:normalViewPr>
  <p:slideViewPr>
    <p:cSldViewPr snapToGrid="0">
      <p:cViewPr varScale="1">
        <p:scale>
          <a:sx n="56" d="100"/>
          <a:sy n="56" d="100"/>
        </p:scale>
        <p:origin x="0" y="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&lt;#&gt;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" name="文本框"/>
          <p:cNvSpPr>
            <a:spLocks noGrp="1"/>
          </p:cNvSpPr>
          <p:nvPr>
            <p:ph type="hdr"/>
          </p:nvPr>
        </p:nvSpPr>
        <p:spPr>
          <a:xfrm rot="0">
            <a:off x="0" y="0"/>
            <a:ext cx="2971799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" name="文本框"/>
          <p:cNvSpPr>
            <a:spLocks noGrp="1"/>
          </p:cNvSpPr>
          <p:nvPr>
            <p:ph type="dt" idx="1"/>
          </p:nvPr>
        </p:nvSpPr>
        <p:spPr>
          <a:xfrm rot="0">
            <a:off x="3884613" y="0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r"/>
            <a:fld id="{CAD2D6BD-DE1B-4B5F-8B41-2702339687B9}" type="datetime1">
              <a:rPr lang="en-US" altLang="zh-CN" sz="1200">
                <a:latin typeface="Calibri" pitchFamily="0" charset="0"/>
                <a:ea typeface="等线" pitchFamily="0" charset="0"/>
                <a:cs typeface="Calibri" pitchFamily="0" charset="0"/>
              </a:rPr>
              <a:t>6/16/2026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" name="对象"/>
          <p:cNvSpPr>
            <a:spLocks noGrp="1" noChangeAspect="1"/>
          </p:cNvSpPr>
          <p:nvPr>
            <p:ph type="sldImg" idx="2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4" name="文本框"/>
          <p:cNvSpPr>
            <a:spLocks noGrp="1"/>
          </p:cNvSpPr>
          <p:nvPr>
            <p:ph type="body" idx="3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5" name="文本框"/>
          <p:cNvSpPr>
            <a:spLocks noGrp="1"/>
          </p:cNvSpPr>
          <p:nvPr>
            <p:ph type="ftr" idx="4"/>
          </p:nvPr>
        </p:nvSpPr>
        <p:spPr>
          <a:xfrm rot="0">
            <a:off x="0" y="8685213"/>
            <a:ext cx="2971799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007228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" name="对象"/>
          <p:cNvSpPr>
            <a:spLocks noGrp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0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508342"/>
      </p:ext>
    </p:extLst>
  </p:cSld>
  <p:clrMapOvr>
    <a:masterClrMapping/>
  </p:clrMapOvr>
</p:notes>
</file>

<file path=ppt/notesSlides/notesSlide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0" name="对象"/>
          <p:cNvSpPr>
            <a:spLocks noGrp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41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654891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4" name="对象"/>
          <p:cNvSpPr>
            <a:spLocks noGrp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45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6765752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8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49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317431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2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3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320258"/>
      </p:ext>
    </p:extLst>
  </p:cSld>
  <p:clrMapOvr>
    <a:masterClrMapping/>
  </p:clrMapOvr>
</p:notes>
</file>

<file path=ppt/notesSlides/notesSlide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9" name="对象"/>
          <p:cNvSpPr>
            <a:spLocks noGrp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60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745593"/>
      </p:ext>
    </p:extLst>
  </p:cSld>
  <p:clrMapOvr>
    <a:masterClrMapping/>
  </p:clrMapOvr>
</p:notes>
</file>

<file path=ppt/notesSlides/notesSlide7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4" name="对象"/>
          <p:cNvSpPr>
            <a:spLocks noGrp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65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958322"/>
      </p:ext>
    </p:extLst>
  </p:cSld>
  <p:clrMapOvr>
    <a:masterClrMapping/>
  </p:clrMapOvr>
</p:notes>
</file>

<file path=ppt/notesSlides/notesSlide8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9" name="对象"/>
          <p:cNvSpPr>
            <a:spLocks noGrp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70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876111"/>
      </p:ext>
    </p:extLst>
  </p:cSld>
  <p:clrMapOvr>
    <a:masterClrMapping/>
  </p:clrMapOvr>
</p:notes>
</file>

<file path=ppt/notesSlides/notesSlide9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9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5" name="对象"/>
          <p:cNvSpPr>
            <a:spLocks noGrp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76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052612"/>
      </p:ext>
    </p:extLst>
  </p:cSld>
  <p:clrMapOvr>
    <a:masterClrMapping/>
  </p:clrMapOvr>
</p:notes>
</file>

<file path=ppt/notesSlides/notesSlide10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10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1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82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356703"/>
      </p:ext>
    </p:extLst>
  </p:cSld>
  <p:clrMapOvr>
    <a:masterClrMapping/>
  </p:clrMapOvr>
</p:notes>
</file>

<file path=ppt/notesSlides/notesSlide1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5" name="对象"/>
          <p:cNvSpPr>
            <a:spLocks noGrp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86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572116"/>
      </p:ext>
    </p:extLst>
  </p:cSld>
  <p:clrMapOvr>
    <a:masterClrMapping/>
  </p:clrMapOvr>
</p:notes>
</file>

<file path=ppt/notesSlides/notesSlide1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9" name="对象"/>
          <p:cNvSpPr>
            <a:spLocks noGrp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90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242300"/>
      </p:ext>
    </p:extLst>
  </p:cSld>
  <p:clrMapOvr>
    <a:masterClrMapping/>
  </p:clrMapOvr>
</p:notes>
</file>

<file path=ppt/notesSlides/notesSlide1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3" name="对象"/>
          <p:cNvSpPr>
            <a:spLocks noGrp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94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806914"/>
      </p:ext>
    </p:extLst>
  </p:cSld>
  <p:clrMapOvr>
    <a:masterClrMapping/>
  </p:clrMapOvr>
</p:notes>
</file>

<file path=ppt/notesSlides/notesSlide1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8" name="对象"/>
          <p:cNvSpPr>
            <a:spLocks noGrp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99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845966"/>
      </p:ext>
    </p:extLst>
  </p:cSld>
  <p:clrMapOvr>
    <a:masterClrMapping/>
  </p:clrMapOvr>
</p:notes>
</file>

<file path=ppt/notesSlides/notesSlide1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9" name="对象"/>
          <p:cNvSpPr>
            <a:spLocks noGrp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10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018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1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1.png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type="title" preserve="1">
  <p:cSld name="标题幻灯片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"/>
          <p:cNvSpPr>
            <a:spLocks/>
          </p:cNvSpPr>
          <p:nvPr/>
        </p:nvSpPr>
        <p:spPr>
          <a:xfrm rot="0">
            <a:off x="446534" y="457200"/>
            <a:ext cx="3703319" cy="94997"/>
          </a:xfrm>
          <a:prstGeom prst="rect"/>
          <a:solidFill>
            <a:srgbClr val="465359"/>
          </a:solidFill>
          <a:ln w="12700" cmpd="sng" cap="flat">
            <a:noFill/>
            <a:prstDash val="solid"/>
            <a:round/>
          </a:ln>
        </p:spPr>
      </p:sp>
      <p:sp>
        <p:nvSpPr>
          <p:cNvPr id="17" name="矩形"/>
          <p:cNvSpPr>
            <a:spLocks/>
          </p:cNvSpPr>
          <p:nvPr/>
        </p:nvSpPr>
        <p:spPr>
          <a:xfrm rot="0">
            <a:off x="8042147" y="453643"/>
            <a:ext cx="3703318" cy="98554"/>
          </a:xfrm>
          <a:prstGeom prst="rect"/>
          <a:solidFill>
            <a:srgbClr val="969FA7"/>
          </a:solidFill>
          <a:ln w="12700" cmpd="sng" cap="flat">
            <a:noFill/>
            <a:prstDash val="solid"/>
            <a:round/>
          </a:ln>
        </p:spPr>
      </p:sp>
      <p:sp>
        <p:nvSpPr>
          <p:cNvPr id="18" name="矩形"/>
          <p:cNvSpPr>
            <a:spLocks/>
          </p:cNvSpPr>
          <p:nvPr/>
        </p:nvSpPr>
        <p:spPr>
          <a:xfrm rot="0">
            <a:off x="4241830" y="457200"/>
            <a:ext cx="3703318" cy="91440"/>
          </a:xfrm>
          <a:prstGeom prst="rect"/>
          <a:solidFill>
            <a:schemeClr val="accent1"/>
          </a:solidFill>
          <a:ln w="12700" cmpd="sng" cap="flat">
            <a:noFill/>
            <a:prstDash val="solid"/>
            <a:round/>
          </a:ln>
        </p:spPr>
      </p:sp>
      <p:pic>
        <p:nvPicPr>
          <p:cNvPr id="19" name="图片" descr="Logo&#10;&#10;Description automatically generate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10485002" y="6437910"/>
            <a:ext cx="1125803" cy="365126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0" name="矩形"/>
          <p:cNvSpPr>
            <a:spLocks/>
          </p:cNvSpPr>
          <p:nvPr/>
        </p:nvSpPr>
        <p:spPr>
          <a:xfrm rot="0">
            <a:off x="446534" y="3085764"/>
            <a:ext cx="11298933" cy="3338149"/>
          </a:xfrm>
          <a:prstGeom prst="rect"/>
          <a:solidFill>
            <a:srgbClr val="465359"/>
          </a:solidFill>
          <a:ln w="12700" cmpd="sng" cap="flat">
            <a:noFill/>
            <a:prstDash val="solid"/>
            <a:round/>
          </a:ln>
        </p:spPr>
      </p:sp>
      <p:sp>
        <p:nvSpPr>
          <p:cNvPr id="21" name="文本框"/>
          <p:cNvSpPr>
            <a:spLocks noGrp="1"/>
          </p:cNvSpPr>
          <p:nvPr>
            <p:ph type="ctrTitle"/>
          </p:nvPr>
        </p:nvSpPr>
        <p:spPr>
          <a:xfrm rot="0">
            <a:off x="581191" y="1020431"/>
            <a:ext cx="10993550" cy="14750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1200" cap="all" spc="0" baseline="0">
                <a:solidFill>
                  <a:srgbClr val="404040"/>
                </a:solidFill>
                <a:latin typeface="Franklin Gothic Demi" pitchFamily="0" charset="0"/>
                <a:ea typeface="华文中宋" pitchFamily="0" charset="0"/>
                <a:cs typeface="Lucida Sans" pitchFamily="0" charset="0"/>
              </a:rPr>
              <a:t>Click to edit Master title style</a:t>
            </a:r>
            <a:endParaRPr lang="zh-CN" altLang="en-US" sz="3600" b="0" i="0" u="none" strike="noStrike" kern="1200" cap="all" spc="0" baseline="0">
              <a:solidFill>
                <a:srgbClr val="404040"/>
              </a:solidFill>
              <a:latin typeface="Franklin Gothic Demi" pitchFamily="0" charset="0"/>
              <a:ea typeface="华文中宋" pitchFamily="0" charset="0"/>
              <a:cs typeface="Lucida Sans" pitchFamily="0" charset="0"/>
            </a:endParaRPr>
          </a:p>
        </p:txBody>
      </p:sp>
      <p:sp>
        <p:nvSpPr>
          <p:cNvPr id="22" name="文本框"/>
          <p:cNvSpPr>
            <a:spLocks noGrp="1"/>
          </p:cNvSpPr>
          <p:nvPr>
            <p:ph type="subTitle" idx="1"/>
          </p:nvPr>
        </p:nvSpPr>
        <p:spPr>
          <a:xfrm rot="0">
            <a:off x="581194" y="2495445"/>
            <a:ext cx="10993546" cy="59032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all" spc="0" baseline="0">
                <a:solidFill>
                  <a:schemeClr val="accent1"/>
                </a:solidFill>
                <a:latin typeface="Franklin Gothic Book" pitchFamily="0" charset="0"/>
                <a:ea typeface="华文中宋" pitchFamily="0" charset="0"/>
                <a:cs typeface="Lucida Sans" pitchFamily="0" charset="0"/>
              </a:rPr>
              <a:t>Click to edit Master subtitle style</a:t>
            </a:r>
            <a:endParaRPr lang="zh-CN" altLang="en-US" sz="1600" b="0" i="0" u="none" strike="noStrike" kern="1200" cap="all" spc="0" baseline="0">
              <a:solidFill>
                <a:schemeClr val="accent1"/>
              </a:solidFill>
              <a:latin typeface="Franklin Gothic Book" pitchFamily="0" charset="0"/>
              <a:ea typeface="华文中宋" pitchFamily="0" charset="0"/>
              <a:cs typeface="Lucida Sans" pitchFamily="0" charset="0"/>
            </a:endParaRPr>
          </a:p>
        </p:txBody>
      </p:sp>
      <p:sp>
        <p:nvSpPr>
          <p:cNvPr id="23" name="文本框"/>
          <p:cNvSpPr>
            <a:spLocks noGrp="1"/>
          </p:cNvSpPr>
          <p:nvPr>
            <p:ph type="dt" idx="10"/>
          </p:nvPr>
        </p:nvSpPr>
        <p:spPr>
          <a:xfrm rot="0">
            <a:off x="7605950" y="6423914"/>
            <a:ext cx="2844798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datetime1">
              <a:rPr lang="en-US" altLang="zh-CN" sz="900" b="0" i="0" u="none" strike="noStrike" kern="1200" cap="none" spc="0" baseline="0">
                <a:solidFill>
                  <a:srgbClr val="404040"/>
                </a:solidFill>
                <a:latin typeface="Franklin Gothic Book" pitchFamily="0" charset="0"/>
                <a:ea typeface="华文中宋" pitchFamily="0" charset="0"/>
                <a:cs typeface="Franklin Gothic Book" pitchFamily="0" charset="0"/>
              </a:rPr>
              <a:t>6/16/2026</a:t>
            </a:fld>
            <a:endParaRPr lang="zh-CN" altLang="en-US" sz="900" b="0" i="0" u="none" strike="noStrike" kern="1200" cap="none" spc="0" baseline="0">
              <a:solidFill>
                <a:srgbClr val="404040"/>
              </a:solidFill>
              <a:latin typeface="Franklin Gothic Book" pitchFamily="0" charset="0"/>
              <a:ea typeface="华文中宋" pitchFamily="0" charset="0"/>
              <a:cs typeface="Franklin Gothic Book" pitchFamily="0" charset="0"/>
            </a:endParaRPr>
          </a:p>
        </p:txBody>
      </p:sp>
      <p:sp>
        <p:nvSpPr>
          <p:cNvPr id="24" name="文本框"/>
          <p:cNvSpPr>
            <a:spLocks noGrp="1"/>
          </p:cNvSpPr>
          <p:nvPr>
            <p:ph type="ftr"/>
          </p:nvPr>
        </p:nvSpPr>
        <p:spPr>
          <a:xfrm rot="0">
            <a:off x="581192" y="6423914"/>
            <a:ext cx="691721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Franklin Gothic Book" pitchFamily="0" charset="0"/>
              <a:ea typeface="华文中宋" pitchFamily="0" charset="0"/>
              <a:cs typeface="Franklin Gothic Book" pitchFamily="0" charset="0"/>
            </a:endParaRPr>
          </a:p>
        </p:txBody>
      </p:sp>
      <p:sp>
        <p:nvSpPr>
          <p:cNvPr id="25" name="文本框"/>
          <p:cNvSpPr>
            <a:spLocks noGrp="1"/>
          </p:cNvSpPr>
          <p:nvPr>
            <p:ph type="sldNum"/>
          </p:nvPr>
        </p:nvSpPr>
        <p:spPr>
          <a:xfrm rot="0">
            <a:off x="10558300" y="6423914"/>
            <a:ext cx="105251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900" b="0" i="0" u="none" strike="noStrike" kern="1200" cap="none" spc="0" baseline="0">
                <a:solidFill>
                  <a:srgbClr val="404040"/>
                </a:solidFill>
                <a:latin typeface="Franklin Gothic Book" pitchFamily="0" charset="0"/>
                <a:ea typeface="华文中宋" pitchFamily="0" charset="0"/>
                <a:cs typeface="Franklin Gothic Book" pitchFamily="0" charset="0"/>
              </a:rPr>
              <a:t>&lt;#&gt;</a:t>
            </a:fld>
            <a:endParaRPr lang="zh-CN" altLang="en-US" sz="900" b="0" i="0" u="none" strike="noStrike" kern="1200" cap="none" spc="0" baseline="0">
              <a:solidFill>
                <a:srgbClr val="404040"/>
              </a:solidFill>
              <a:latin typeface="Franklin Gothic Book" pitchFamily="0" charset="0"/>
              <a:ea typeface="华文中宋" pitchFamily="0" charset="0"/>
              <a:cs typeface="Franklin Gothic Book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783435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2036623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0466692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565911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474797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854709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86357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011299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6332160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542005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4322514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31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446534" y="457200"/>
            <a:ext cx="3703319" cy="94997"/>
          </a:xfrm>
          <a:prstGeom xmlns:a="http://schemas.openxmlformats.org/drawingml/2006/main" prst="rect"/>
          <a:solidFill xmlns:a="http://schemas.openxmlformats.org/drawingml/2006/main">
            <a:srgbClr val="465359"/>
          </a:solidFill>
          <a:ln xmlns:a="http://schemas.openxmlformats.org/drawingml/2006/main" w="12700" cmpd="sng" cap="flat">
            <a:noFill/>
            <a:prstDash val="solid"/>
            <a:round/>
          </a:ln>
        </p:spPr>
      </p:sp>
      <p:sp>
        <p:nvSpPr>
          <p:cNvPr id="32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8042147" y="453643"/>
            <a:ext cx="3703318" cy="98554"/>
          </a:xfrm>
          <a:prstGeom xmlns:a="http://schemas.openxmlformats.org/drawingml/2006/main" prst="rect"/>
          <a:solidFill xmlns:a="http://schemas.openxmlformats.org/drawingml/2006/main">
            <a:srgbClr val="969FA7"/>
          </a:solidFill>
          <a:ln xmlns:a="http://schemas.openxmlformats.org/drawingml/2006/main" w="12700" cmpd="sng" cap="flat">
            <a:noFill/>
            <a:prstDash val="solid"/>
            <a:round/>
          </a:ln>
        </p:spPr>
      </p:sp>
      <p:sp>
        <p:nvSpPr>
          <p:cNvPr id="33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4241830" y="457200"/>
            <a:ext cx="3703318" cy="91440"/>
          </a:xfrm>
          <a:prstGeom xmlns:a="http://schemas.openxmlformats.org/drawingml/2006/main" prst="rect"/>
          <a:solidFill xmlns:a="http://schemas.openxmlformats.org/drawingml/2006/main">
            <a:schemeClr val="accent1"/>
          </a:solidFill>
          <a:ln xmlns:a="http://schemas.openxmlformats.org/drawingml/2006/main" w="12700" cmpd="sng" cap="flat">
            <a:noFill/>
            <a:prstDash val="solid"/>
            <a:round/>
          </a:ln>
        </p:spPr>
      </p:sp>
      <p:pic>
        <p:nvPicPr>
          <p:cNvPr id="34" name="图片" descr="Logo&#10;&#10;Description automatically generated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2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10485002" y="6437910"/>
            <a:ext cx="1125803" cy="365126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  <p:sp>
        <p:nvSpPr>
          <p:cNvPr id="35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581192" y="702155"/>
            <a:ext cx="11029616" cy="530296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b" anchorCtr="0">
            <a:prstTxWarp prst="textNoShape"/>
          </a:bodyPr>
          <a:lstStyle xmlns:a="http://schemas.openxmlformats.org/drawingml/2006/main"/>
          <a:p xmlns:a="http://schemas.openxmlformats.org/drawingml/2006/main"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6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0">
            <a:off x="581192" y="1302026"/>
            <a:ext cx="11029615" cy="4673324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r>
              <a:rPr lang="en-US" altLang="zh-CN"/>
              <a:t>Click to edit Master text styles</a:t>
            </a:r>
            <a:endParaRPr lang="en-US" altLang="zh-CN"/>
          </a:p>
          <a:p xmlns:a="http://schemas.openxmlformats.org/drawingml/2006/main">
            <a:pPr lvl="1"/>
            <a:r>
              <a:rPr lang="en-US" altLang="zh-CN"/>
              <a:t>Second level</a:t>
            </a:r>
            <a:endParaRPr lang="en-US" altLang="zh-CN"/>
          </a:p>
          <a:p xmlns:a="http://schemas.openxmlformats.org/drawingml/2006/main">
            <a:pPr lvl="2"/>
            <a:r>
              <a:rPr lang="en-US" altLang="zh-CN"/>
              <a:t>Third level</a:t>
            </a:r>
            <a:endParaRPr lang="en-US" altLang="zh-CN"/>
          </a:p>
          <a:p xmlns:a="http://schemas.openxmlformats.org/drawingml/2006/main">
            <a:pPr lvl="3"/>
            <a:r>
              <a:rPr lang="en-US" altLang="zh-CN"/>
              <a:t>Fourth level</a:t>
            </a:r>
            <a:endParaRPr lang="en-US" altLang="zh-CN"/>
          </a:p>
          <a:p xmlns:a="http://schemas.openxmlformats.org/drawingml/2006/main"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37" name="文本框"/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 rot="0">
            <a:off x="7605950" y="6423914"/>
            <a:ext cx="2844798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datetime1">
              <a:rPr lang="en-US" altLang="zh-CN" sz="900">
                <a:solidFill>
                  <a:srgbClr val="404040"/>
                </a:solidFill>
                <a:latin typeface="Franklin Gothic Book" pitchFamily="0" charset="0"/>
                <a:ea typeface="华文中宋" pitchFamily="0" charset="0"/>
                <a:cs typeface="Franklin Gothic Book" pitchFamily="0" charset="0"/>
              </a:rPr>
              <a:t>6/16/2026</a:t>
            </a:fld>
            <a:endParaRPr lang="zh-CN" altLang="en-US" sz="900">
              <a:solidFill>
                <a:srgbClr val="404040"/>
              </a:solidFill>
              <a:latin typeface="Franklin Gothic Book" pitchFamily="0" charset="0"/>
              <a:ea typeface="华文中宋" pitchFamily="0" charset="0"/>
              <a:cs typeface="Franklin Gothic Book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153419"/>
      </p:ext>
    </p:extLst>
  </p:cSld>
  <p:clrMapOvr>
    <a:masterClrMapping xmlns:a="http://schemas.openxmlformats.org/drawingml/2006/main"/>
  </p:clrMapOvr>
</p:sldLayout>
</file>

<file path=ppt/slideLayouts/slideLayout13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0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446534" y="457200"/>
            <a:ext cx="3703319" cy="94997"/>
          </a:xfrm>
          <a:prstGeom xmlns:a="http://schemas.openxmlformats.org/drawingml/2006/main" prst="rect"/>
          <a:solidFill xmlns:a="http://schemas.openxmlformats.org/drawingml/2006/main">
            <a:srgbClr val="465359"/>
          </a:solidFill>
          <a:ln xmlns:a="http://schemas.openxmlformats.org/drawingml/2006/main" w="12700" cmpd="sng" cap="flat">
            <a:noFill/>
            <a:prstDash val="solid"/>
            <a:round/>
          </a:ln>
        </p:spPr>
      </p:sp>
      <p:sp>
        <p:nvSpPr>
          <p:cNvPr id="101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8042147" y="453643"/>
            <a:ext cx="3703318" cy="98554"/>
          </a:xfrm>
          <a:prstGeom xmlns:a="http://schemas.openxmlformats.org/drawingml/2006/main" prst="rect"/>
          <a:solidFill xmlns:a="http://schemas.openxmlformats.org/drawingml/2006/main">
            <a:srgbClr val="969FA7"/>
          </a:solidFill>
          <a:ln xmlns:a="http://schemas.openxmlformats.org/drawingml/2006/main" w="12700" cmpd="sng" cap="flat">
            <a:noFill/>
            <a:prstDash val="solid"/>
            <a:round/>
          </a:ln>
        </p:spPr>
      </p:sp>
      <p:sp>
        <p:nvSpPr>
          <p:cNvPr id="102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4241830" y="457200"/>
            <a:ext cx="3703318" cy="91440"/>
          </a:xfrm>
          <a:prstGeom xmlns:a="http://schemas.openxmlformats.org/drawingml/2006/main" prst="rect"/>
          <a:solidFill xmlns:a="http://schemas.openxmlformats.org/drawingml/2006/main">
            <a:schemeClr val="accent1"/>
          </a:solidFill>
          <a:ln xmlns:a="http://schemas.openxmlformats.org/drawingml/2006/main" w="12700" cmpd="sng" cap="flat">
            <a:noFill/>
            <a:prstDash val="solid"/>
            <a:round/>
          </a:ln>
        </p:spPr>
      </p:sp>
      <p:pic>
        <p:nvPicPr>
          <p:cNvPr id="103" name="图片" descr="Logo&#10;&#10;Description automatically generated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2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10485002" y="6437910"/>
            <a:ext cx="1125803" cy="365126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  <p:sp>
        <p:nvSpPr>
          <p:cNvPr id="104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575894" y="729658"/>
            <a:ext cx="11029616" cy="592244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b" anchorCtr="0">
            <a:prstTxWarp prst="textNoShape"/>
          </a:bodyPr>
          <a:lstStyle xmlns:a="http://schemas.openxmlformats.org/drawingml/2006/main"/>
          <a:p xmlns:a="http://schemas.openxmlformats.org/drawingml/2006/main"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105" name="文本框"/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 rot="0">
            <a:off x="7605950" y="6423914"/>
            <a:ext cx="2844798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datetime1">
              <a:rPr lang="en-US" altLang="zh-CN" sz="900">
                <a:solidFill>
                  <a:srgbClr val="404040"/>
                </a:solidFill>
                <a:latin typeface="Franklin Gothic Book" pitchFamily="0" charset="0"/>
                <a:ea typeface="华文中宋" pitchFamily="0" charset="0"/>
                <a:cs typeface="Franklin Gothic Book" pitchFamily="0" charset="0"/>
              </a:rPr>
              <a:t>6/16/2026</a:t>
            </a:fld>
            <a:endParaRPr lang="zh-CN" altLang="en-US" sz="900">
              <a:solidFill>
                <a:srgbClr val="404040"/>
              </a:solidFill>
              <a:latin typeface="Franklin Gothic Book" pitchFamily="0" charset="0"/>
              <a:ea typeface="华文中宋" pitchFamily="0" charset="0"/>
              <a:cs typeface="Franklin Gothic Book" pitchFamily="0" charset="0"/>
            </a:endParaRPr>
          </a:p>
        </p:txBody>
      </p:sp>
      <p:sp>
        <p:nvSpPr>
          <p:cNvPr id="106" name="文本框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 rot="0">
            <a:off x="581192" y="6423914"/>
            <a:ext cx="691721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endParaRPr lang="zh-CN" altLang="en-US">
              <a:latin typeface="Franklin Gothic Book" pitchFamily="0" charset="0"/>
              <a:ea typeface="华文中宋" pitchFamily="0" charset="0"/>
              <a:cs typeface="Franklin Gothic Book" pitchFamily="0" charset="0"/>
            </a:endParaRPr>
          </a:p>
        </p:txBody>
      </p:sp>
      <p:sp>
        <p:nvSpPr>
          <p:cNvPr id="107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10558300" y="6423914"/>
            <a:ext cx="105251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900" b="0" i="0" u="none" strike="noStrike" kern="1200" cap="none" spc="0" baseline="0">
                <a:solidFill>
                  <a:srgbClr val="404040"/>
                </a:solidFill>
                <a:latin typeface="Franklin Gothic Book" pitchFamily="0" charset="0"/>
                <a:ea typeface="华文中宋" pitchFamily="0" charset="0"/>
                <a:cs typeface="Franklin Gothic Book" pitchFamily="0" charset="0"/>
              </a:rPr>
              <a:t>&lt;#&gt;</a:t>
            </a:fld>
            <a:endParaRPr lang="zh-CN" altLang="en-US" sz="900">
              <a:solidFill>
                <a:srgbClr val="404040"/>
              </a:solidFill>
              <a:latin typeface="Franklin Gothic Book" pitchFamily="0" charset="0"/>
              <a:ea typeface="华文中宋" pitchFamily="0" charset="0"/>
              <a:cs typeface="Franklin Gothic Book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812928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image" Target="../media/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 rot="0">
            <a:off x="581192" y="705124"/>
            <a:ext cx="11029616" cy="55714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 rot="0">
            <a:off x="581192" y="1415198"/>
            <a:ext cx="11029616" cy="457285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 rot="0">
            <a:off x="7605950" y="6423914"/>
            <a:ext cx="2844798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datetime1">
              <a:rPr lang="en-US" altLang="zh-CN" sz="900">
                <a:solidFill>
                  <a:srgbClr val="404040"/>
                </a:solidFill>
                <a:latin typeface="Franklin Gothic Book" pitchFamily="0" charset="0"/>
                <a:ea typeface="华文中宋" pitchFamily="0" charset="0"/>
                <a:cs typeface="Franklin Gothic Book" pitchFamily="0" charset="0"/>
              </a:rPr>
              <a:t>6/16/2026</a:t>
            </a:fld>
            <a:endParaRPr lang="zh-CN" altLang="en-US" sz="900">
              <a:solidFill>
                <a:srgbClr val="404040"/>
              </a:solidFill>
              <a:latin typeface="Franklin Gothic Book" pitchFamily="0" charset="0"/>
              <a:ea typeface="华文中宋" pitchFamily="0" charset="0"/>
              <a:cs typeface="Franklin Gothic Book" pitchFamily="0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sldNum" idx="4"/>
          </p:nvPr>
        </p:nvSpPr>
        <p:spPr>
          <a:xfrm rot="0">
            <a:off x="10558300" y="6423914"/>
            <a:ext cx="105251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900" b="0" i="0" u="none" strike="noStrike" kern="1200" cap="none" spc="0" baseline="0">
                <a:solidFill>
                  <a:srgbClr val="404040"/>
                </a:solidFill>
                <a:latin typeface="Franklin Gothic Book" pitchFamily="0" charset="0"/>
                <a:ea typeface="华文中宋" pitchFamily="0" charset="0"/>
                <a:cs typeface="Franklin Gothic Book" pitchFamily="0" charset="0"/>
              </a:rPr>
              <a:t>&lt;#&gt;</a:t>
            </a:fld>
            <a:endParaRPr lang="zh-CN" altLang="en-US" sz="900">
              <a:solidFill>
                <a:srgbClr val="404040"/>
              </a:solidFill>
              <a:latin typeface="Franklin Gothic Book" pitchFamily="0" charset="0"/>
              <a:ea typeface="华文中宋" pitchFamily="0" charset="0"/>
              <a:cs typeface="Franklin Gothic Book" pitchFamily="0" charset="0"/>
            </a:endParaRPr>
          </a:p>
        </p:txBody>
      </p:sp>
      <p:sp>
        <p:nvSpPr>
          <p:cNvPr id="6" name="矩形"/>
          <p:cNvSpPr>
            <a:spLocks/>
          </p:cNvSpPr>
          <p:nvPr/>
        </p:nvSpPr>
        <p:spPr>
          <a:xfrm rot="0">
            <a:off x="446534" y="457200"/>
            <a:ext cx="3703319" cy="94997"/>
          </a:xfrm>
          <a:prstGeom prst="rect"/>
          <a:solidFill>
            <a:srgbClr val="465359"/>
          </a:solidFill>
          <a:ln w="12700" cmpd="sng" cap="flat">
            <a:noFill/>
            <a:prstDash val="solid"/>
            <a:round/>
          </a:ln>
        </p:spPr>
      </p:sp>
      <p:sp>
        <p:nvSpPr>
          <p:cNvPr id="7" name="矩形"/>
          <p:cNvSpPr>
            <a:spLocks/>
          </p:cNvSpPr>
          <p:nvPr/>
        </p:nvSpPr>
        <p:spPr>
          <a:xfrm rot="0">
            <a:off x="8042147" y="453643"/>
            <a:ext cx="3703318" cy="98554"/>
          </a:xfrm>
          <a:prstGeom prst="rect"/>
          <a:solidFill>
            <a:srgbClr val="969FA7"/>
          </a:solidFill>
          <a:ln w="12700" cmpd="sng" cap="flat">
            <a:noFill/>
            <a:prstDash val="solid"/>
            <a:round/>
          </a:ln>
        </p:spPr>
      </p:sp>
      <p:sp>
        <p:nvSpPr>
          <p:cNvPr id="8" name="矩形"/>
          <p:cNvSpPr>
            <a:spLocks/>
          </p:cNvSpPr>
          <p:nvPr/>
        </p:nvSpPr>
        <p:spPr>
          <a:xfrm rot="0">
            <a:off x="4241830" y="457200"/>
            <a:ext cx="3703318" cy="91440"/>
          </a:xfrm>
          <a:prstGeom prst="rect"/>
          <a:solidFill>
            <a:schemeClr val="accent1"/>
          </a:solidFill>
          <a:ln w="12700" cmpd="sng" cap="flat">
            <a:noFill/>
            <a:prstDash val="solid"/>
            <a:round/>
          </a:ln>
        </p:spPr>
      </p:sp>
      <p:pic>
        <p:nvPicPr>
          <p:cNvPr id="9" name="图片" descr="Logo&#10;&#10;Description automatically generated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0485002" y="6437910"/>
            <a:ext cx="1125803" cy="365126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635999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sldNum="0" hdr="0" ftr="0" dt="0"/>
  <p:txStyles>
    <p:titleStyle>
      <a:lvl1pPr algn="l" defTabSz="914400" eaLnBrk="1" fontAlgn="auto" latinLnBrk="0" hangingPunct="1">
        <a:lnSpc>
          <a:spcPct val="100000"/>
        </a:lnSpc>
        <a:spcBef>
          <a:spcPts val="0"/>
        </a:spcBef>
        <a:buNone/>
        <a:defRPr sz="2800" b="0" kern="1200" cap="all">
          <a:solidFill>
            <a:srgbClr val="404040"/>
          </a:solidFill>
          <a:latin typeface="Franklin Gothic Demi" pitchFamily="0" charset="0"/>
          <a:ea typeface="华文中宋" pitchFamily="0" charset="0"/>
          <a:cs typeface="Franklin Gothic Demi" pitchFamily="0" charset="0"/>
        </a:defRPr>
      </a:lvl1pPr>
    </p:titleStyle>
    <p:bodyStyle>
      <a:lvl1pPr marL="305943" indent="-305943" algn="l" defTabSz="914400" eaLnBrk="1" fontAlgn="auto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itchFamily="18" charset="2"/>
        <a:buChar char=""/>
        <a:defRPr sz="1700" kern="1200">
          <a:solidFill>
            <a:srgbClr val="404040"/>
          </a:solidFill>
          <a:latin typeface="Franklin Gothic Book" pitchFamily="0" charset="0"/>
          <a:ea typeface="华文中宋" pitchFamily="0" charset="0"/>
          <a:cs typeface="Franklin Gothic Book" pitchFamily="0" charset="0"/>
        </a:defRPr>
      </a:lvl1pPr>
      <a:lvl2pPr marL="629793" indent="-305943" algn="l" defTabSz="914400" eaLnBrk="1" fontAlgn="auto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itchFamily="18" charset="2"/>
        <a:buChar char=""/>
        <a:defRPr sz="1400" kern="1200">
          <a:solidFill>
            <a:srgbClr val="404040"/>
          </a:solidFill>
          <a:latin typeface="Franklin Gothic Book" pitchFamily="0" charset="0"/>
          <a:ea typeface="华文中宋" pitchFamily="0" charset="0"/>
          <a:cs typeface="Franklin Gothic Book" pitchFamily="0" charset="0"/>
        </a:defRPr>
      </a:lvl2pPr>
      <a:lvl3pPr marL="899795" indent="-269875" algn="l" defTabSz="914400" eaLnBrk="1" fontAlgn="auto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itchFamily="18" charset="2"/>
        <a:buChar char=""/>
        <a:defRPr sz="1300" kern="1200">
          <a:solidFill>
            <a:srgbClr val="404040"/>
          </a:solidFill>
          <a:latin typeface="Franklin Gothic Book" pitchFamily="0" charset="0"/>
          <a:ea typeface="华文中宋" pitchFamily="0" charset="0"/>
          <a:cs typeface="Franklin Gothic Book" pitchFamily="0" charset="0"/>
        </a:defRPr>
      </a:lvl3pPr>
      <a:lvl4pPr marL="1241933" indent="-233934" algn="l" defTabSz="914400" eaLnBrk="1" fontAlgn="auto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itchFamily="18" charset="2"/>
        <a:buChar char=""/>
        <a:defRPr sz="1100" kern="1200">
          <a:solidFill>
            <a:srgbClr val="404040"/>
          </a:solidFill>
          <a:latin typeface="Franklin Gothic Book" pitchFamily="0" charset="0"/>
          <a:ea typeface="华文中宋" pitchFamily="0" charset="0"/>
          <a:cs typeface="Franklin Gothic Book" pitchFamily="0" charset="0"/>
        </a:defRPr>
      </a:lvl4pPr>
      <a:lvl5pPr marL="1601851" indent="-233934" algn="l" defTabSz="914400" eaLnBrk="1" fontAlgn="auto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itchFamily="18" charset="2"/>
        <a:buChar char=""/>
        <a:defRPr sz="1100" kern="1200">
          <a:solidFill>
            <a:srgbClr val="404040"/>
          </a:solidFill>
          <a:latin typeface="Franklin Gothic Book" pitchFamily="0" charset="0"/>
          <a:ea typeface="华文中宋" pitchFamily="0" charset="0"/>
          <a:cs typeface="Franklin Gothic Book" pitchFamily="0" charset="0"/>
        </a:defRPr>
      </a:lvl5pPr>
      <a:lvl6pPr marL="1899920" indent="-228600" algn="l" defTabSz="914400" eaLnBrk="1" fontAlgn="auto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itchFamily="18" charset="2"/>
        <a:buChar char=""/>
        <a:defRPr sz="1200" kern="1200">
          <a:solidFill>
            <a:schemeClr val="tx2"/>
          </a:solidFill>
          <a:latin typeface="Franklin Gothic Book" pitchFamily="0" charset="0"/>
          <a:ea typeface="华文中宋" pitchFamily="0" charset="0"/>
          <a:cs typeface="Franklin Gothic Book" pitchFamily="0" charset="0"/>
        </a:defRPr>
      </a:lvl6pPr>
      <a:lvl7pPr marL="2199894" indent="-228600" algn="l" defTabSz="914400" eaLnBrk="1" fontAlgn="auto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itchFamily="18" charset="2"/>
        <a:buChar char=""/>
        <a:defRPr sz="1200" kern="1200">
          <a:solidFill>
            <a:schemeClr val="tx2"/>
          </a:solidFill>
          <a:latin typeface="Franklin Gothic Book" pitchFamily="0" charset="0"/>
          <a:ea typeface="华文中宋" pitchFamily="0" charset="0"/>
          <a:cs typeface="Franklin Gothic Book" pitchFamily="0" charset="0"/>
        </a:defRPr>
      </a:lvl7pPr>
      <a:lvl8pPr marL="2499995" indent="-228600" algn="l" defTabSz="914400" eaLnBrk="1" fontAlgn="auto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itchFamily="18" charset="2"/>
        <a:buChar char=""/>
        <a:defRPr sz="1200" kern="1200">
          <a:solidFill>
            <a:schemeClr val="tx2"/>
          </a:solidFill>
          <a:latin typeface="Franklin Gothic Book" pitchFamily="0" charset="0"/>
          <a:ea typeface="华文中宋" pitchFamily="0" charset="0"/>
          <a:cs typeface="Franklin Gothic Book" pitchFamily="0" charset="0"/>
        </a:defRPr>
      </a:lvl8pPr>
      <a:lvl9pPr marL="2499995" indent="-228600" algn="l" defTabSz="914400" eaLnBrk="1" fontAlgn="auto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itchFamily="18" charset="2"/>
        <a:buChar char=""/>
        <a:defRPr sz="1200" kern="1200">
          <a:solidFill>
            <a:schemeClr val="tx2"/>
          </a:solidFill>
          <a:latin typeface="Franklin Gothic Book" pitchFamily="0" charset="0"/>
          <a:ea typeface="华文中宋" pitchFamily="0" charset="0"/>
          <a:cs typeface="Franklin Gothic Book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2.png"/><Relationship Id="rId2" Type="http://schemas.openxmlformats.org/officeDocument/2006/relationships/image" Target="../media/3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4.png"/><Relationship Id="rId2" Type="http://schemas.openxmlformats.org/officeDocument/2006/relationships/image" Target="../media/5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6.png"/><Relationship Id="rId2" Type="http://schemas.openxmlformats.org/officeDocument/2006/relationships/image" Target="../media/7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8.png"/><Relationship Id="rId2" Type="http://schemas.openxmlformats.org/officeDocument/2006/relationships/image" Target="../media/9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10.png"/><Relationship Id="rId2" Type="http://schemas.openxmlformats.org/officeDocument/2006/relationships/image" Target="../media/11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esearchgate.net/publication/374866548_Study-Buddy_A_Knowledge_Graph-Powered_Learning_Companion_for_School_Students" TargetMode="External"/><Relationship Id="rId2" Type="http://schemas.openxmlformats.org/officeDocument/2006/relationships/hyperlink" Target="https://educationaltechnologyjournal.springeropen.com/articles/10.1186/s41239-023-00426-1" TargetMode="External"/><Relationship Id="rId3" Type="http://schemas.openxmlformats.org/officeDocument/2006/relationships/hyperlink" Target="https://ijsdr.org/papers/IJSDR2504417.pdf" TargetMode="External"/><Relationship Id="rId4" Type="http://schemas.openxmlformats.org/officeDocument/2006/relationships/hyperlink" Target="https://www.nature.com/articles/s41599-025-04787-y" TargetMode="External"/><Relationship Id="rId5" Type="http://schemas.openxmlformats.org/officeDocument/2006/relationships/hyperlink" Target="https://elearningindustry.com/ai-as-a-study-buddy-helping-students-learn-smarter" TargetMode="External"/><Relationship Id="rId6" Type="http://schemas.openxmlformats.org/officeDocument/2006/relationships/slideLayout" Target="../slideLayouts/slideLayout12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"/>
          <p:cNvSpPr>
            <a:spLocks noGrp="1"/>
          </p:cNvSpPr>
          <p:nvPr>
            <p:ph type="ctrTitle"/>
          </p:nvPr>
        </p:nvSpPr>
        <p:spPr>
          <a:xfrm rot="0">
            <a:off x="1359107" y="1821635"/>
            <a:ext cx="9144000" cy="97777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all" spc="0" baseline="0">
                <a:solidFill>
                  <a:schemeClr val="accent1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AI-POWERED STUDY BUDDY</a:t>
            </a:r>
            <a:endParaRPr lang="zh-CN" altLang="en-US" sz="3600" b="1" i="0" u="none" strike="noStrike" kern="1200" cap="all" spc="0" baseline="0">
              <a:solidFill>
                <a:schemeClr val="accent1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</p:txBody>
      </p:sp>
      <p:sp>
        <p:nvSpPr>
          <p:cNvPr id="27" name="矩形"/>
          <p:cNvSpPr>
            <a:spLocks/>
          </p:cNvSpPr>
          <p:nvPr/>
        </p:nvSpPr>
        <p:spPr>
          <a:xfrm rot="0">
            <a:off x="-329782" y="1034320"/>
            <a:ext cx="12726648" cy="5772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1481AC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CAPSTONE PROJECT</a:t>
            </a:r>
            <a:endParaRPr lang="zh-CN" altLang="en-US" sz="3200" b="1" i="0" u="none" strike="noStrike" kern="1200" cap="none" spc="0" baseline="0">
              <a:solidFill>
                <a:srgbClr val="1481AC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</p:txBody>
      </p:sp>
      <p:sp>
        <p:nvSpPr>
          <p:cNvPr id="28" name="矩形"/>
          <p:cNvSpPr>
            <a:spLocks/>
          </p:cNvSpPr>
          <p:nvPr/>
        </p:nvSpPr>
        <p:spPr>
          <a:xfrm rot="0">
            <a:off x="3117529" y="4586365"/>
            <a:ext cx="7980183" cy="9772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1481AC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Presented By:</a:t>
            </a:r>
            <a:endParaRPr lang="en-US" altLang="zh-CN" sz="2000" b="1" i="0" u="none" strike="noStrike" kern="1200" cap="none" spc="0" baseline="0">
              <a:solidFill>
                <a:srgbClr val="1481AC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1481AC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1.Remudala Srujana-Malla Reddy College Of Engineering For Women-Computer Science And Engineering</a:t>
            </a:r>
            <a:endParaRPr lang="zh-CN" altLang="en-US" sz="2000" b="1" i="0" u="none" strike="noStrike" kern="1200" cap="none" spc="0" baseline="0">
              <a:solidFill>
                <a:srgbClr val="1481AC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675988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"/>
          <p:cNvSpPr>
            <a:spLocks noGrp="1"/>
          </p:cNvSpPr>
          <p:nvPr>
            <p:ph type="title"/>
          </p:nvPr>
        </p:nvSpPr>
        <p:spPr>
          <a:xfrm rot="0">
            <a:off x="849573" y="558468"/>
            <a:ext cx="10515600" cy="13255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all" spc="0" baseline="0">
                <a:solidFill>
                  <a:srgbClr val="00206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OUTLINE</a:t>
            </a:r>
            <a:endParaRPr lang="zh-CN" altLang="en-US" sz="2800" b="1" i="0" u="none" strike="noStrike" kern="1200" cap="all" spc="0" baseline="0">
              <a:solidFill>
                <a:srgbClr val="00206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</p:txBody>
      </p:sp>
      <p:sp>
        <p:nvSpPr>
          <p:cNvPr id="39" name="文本框"/>
          <p:cNvSpPr>
            <a:spLocks noGrp="1"/>
          </p:cNvSpPr>
          <p:nvPr>
            <p:ph type="body" idx="1"/>
          </p:nvPr>
        </p:nvSpPr>
        <p:spPr>
          <a:xfrm rot="0">
            <a:off x="838200" y="1618937"/>
            <a:ext cx="11019020" cy="523906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Franklin Gothic Book" pitchFamily="0" charset="0"/>
                <a:cs typeface="Arial" pitchFamily="34" charset="0"/>
              </a:rPr>
              <a:t>  </a:t>
            </a:r>
            <a:endParaRPr lang="en-US" altLang="zh-CN" sz="17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05435" indent="-305435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r>
              <a:rPr lang="en-US" altLang="zh-CN" sz="20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Franklin Gothic Book" pitchFamily="0" charset="0"/>
                <a:cs typeface="Arial" pitchFamily="34" charset="0"/>
              </a:rPr>
              <a:t>Problem Statement </a:t>
            </a:r>
            <a:endParaRPr lang="en-US" altLang="zh-CN" sz="17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05435" indent="-305435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r>
              <a:rPr lang="en-US" altLang="zh-CN" sz="20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Franklin Gothic Book" pitchFamily="0" charset="0"/>
                <a:cs typeface="Calibri" pitchFamily="0" charset="0"/>
              </a:rPr>
              <a:t>System </a:t>
            </a:r>
            <a:r>
              <a:rPr lang="en-US" altLang="zh-CN" sz="20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Franklin Gothic Book" pitchFamily="0" charset="0"/>
                <a:cs typeface="Franklin Gothic Book" pitchFamily="0" charset="0"/>
              </a:rPr>
              <a:t>Development Approach </a:t>
            </a:r>
            <a:endParaRPr lang="en-US" altLang="zh-CN" sz="17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Franklin Gothic Book" pitchFamily="0" charset="0"/>
              <a:cs typeface="Franklin Gothic Book" pitchFamily="0" charset="0"/>
            </a:endParaRPr>
          </a:p>
          <a:p>
            <a:pPr marL="305435" indent="-305435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r>
              <a:rPr lang="en-US" altLang="zh-CN" sz="20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Franklin Gothic Book" pitchFamily="0" charset="0"/>
                <a:cs typeface="Franklin Gothic Book" pitchFamily="0" charset="0"/>
              </a:rPr>
              <a:t>Algorithm &amp; Deployment (Step by Step  Procedure) </a:t>
            </a:r>
            <a:endParaRPr lang="en-US" altLang="zh-CN" sz="17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Calibri" pitchFamily="0" charset="0"/>
            </a:endParaRPr>
          </a:p>
          <a:p>
            <a:pPr marL="305435" indent="-305435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r>
              <a:rPr lang="en-US" altLang="zh-CN" sz="20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Franklin Gothic Book" pitchFamily="0" charset="0"/>
                <a:cs typeface="Arial" pitchFamily="34" charset="0"/>
              </a:rPr>
              <a:t>Result</a:t>
            </a:r>
            <a:endParaRPr lang="en-US" altLang="zh-CN" sz="2000" b="1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Franklin Gothic Book" pitchFamily="0" charset="0"/>
              <a:cs typeface="Arial" pitchFamily="34" charset="0"/>
            </a:endParaRPr>
          </a:p>
          <a:p>
            <a:pPr marL="305435" indent="-305435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r>
              <a:rPr lang="en-US" altLang="zh-CN" sz="20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Franklin Gothic Book" pitchFamily="0" charset="0"/>
                <a:cs typeface="Arial" pitchFamily="34" charset="0"/>
              </a:rPr>
              <a:t>Conclusion</a:t>
            </a:r>
            <a:endParaRPr lang="en-US" altLang="zh-CN" sz="17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05435" indent="-305435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r>
              <a:rPr lang="en-US" altLang="zh-CN" sz="20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Franklin Gothic Book" pitchFamily="0" charset="0"/>
                <a:cs typeface="Arial" pitchFamily="34" charset="0"/>
              </a:rPr>
              <a:t>Future Scope(Optional)</a:t>
            </a:r>
            <a:endParaRPr lang="en-US" altLang="zh-CN" sz="2000" b="1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Franklin Gothic Book" pitchFamily="0" charset="0"/>
              <a:cs typeface="Arial" pitchFamily="34" charset="0"/>
            </a:endParaRPr>
          </a:p>
          <a:p>
            <a:pPr marL="305435" indent="-305435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r>
              <a:rPr lang="en-US" altLang="zh-CN" sz="20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Franklin Gothic Book" pitchFamily="0" charset="0"/>
                <a:cs typeface="Arial" pitchFamily="34" charset="0"/>
              </a:rPr>
              <a:t>References</a:t>
            </a:r>
            <a:endParaRPr lang="en-US" altLang="zh-CN" sz="17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05435" indent="-305435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endParaRPr lang="zh-CN" altLang="en-US" sz="17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136323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文本框"/>
          <p:cNvSpPr>
            <a:spLocks noGrp="1"/>
          </p:cNvSpPr>
          <p:nvPr>
            <p:ph type="title"/>
          </p:nvPr>
        </p:nvSpPr>
        <p:spPr>
          <a:xfrm rot="0">
            <a:off x="581192" y="702155"/>
            <a:ext cx="11029616" cy="5302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all" spc="0" baseline="0">
                <a:solidFill>
                  <a:schemeClr val="accent1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Problem Statement</a:t>
            </a:r>
            <a:endParaRPr lang="zh-CN" altLang="en-US" sz="3600" b="0" i="0" u="none" strike="noStrike" kern="1200" cap="all" spc="0" baseline="0">
              <a:solidFill>
                <a:srgbClr val="404040"/>
              </a:solidFill>
              <a:latin typeface="Franklin Gothic Demi" pitchFamily="0" charset="0"/>
              <a:ea typeface="华文中宋" pitchFamily="0" charset="0"/>
              <a:cs typeface="Lucida Sans" pitchFamily="0" charset="0"/>
            </a:endParaRPr>
          </a:p>
        </p:txBody>
      </p:sp>
      <p:sp>
        <p:nvSpPr>
          <p:cNvPr id="43" name="文本框"/>
          <p:cNvSpPr>
            <a:spLocks noGrp="1"/>
          </p:cNvSpPr>
          <p:nvPr>
            <p:ph type="body" idx="1"/>
          </p:nvPr>
        </p:nvSpPr>
        <p:spPr>
          <a:xfrm rot="0">
            <a:off x="439838" y="1232452"/>
            <a:ext cx="10715614" cy="474289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305943" indent="-305943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r>
              <a:rPr lang="en-US" altLang="zh-CN" sz="18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Students often face difficulties in understanding complex concepts while studying independently. Searching online can lead to </a:t>
            </a:r>
            <a:r>
              <a:rPr lang="en-US" altLang="zh-CN" sz="18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lengthy, scattered, or irrelevant information</a:t>
            </a:r>
            <a:r>
              <a:rPr lang="en-US" altLang="zh-CN" sz="18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, and access to teachers or tutors is not always immediate. This creates a gap in </a:t>
            </a:r>
            <a:r>
              <a:rPr lang="en-US" altLang="zh-CN" sz="18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effective learning and quick revision</a:t>
            </a:r>
            <a:r>
              <a:rPr lang="en-US" altLang="zh-CN" sz="18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.</a:t>
            </a:r>
            <a:endParaRPr lang="en-US" altLang="zh-CN" sz="18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05943" indent="-305943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r>
              <a:rPr lang="en-US" altLang="zh-CN" sz="18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There is a need for an </a:t>
            </a:r>
            <a:r>
              <a:rPr lang="en-US" altLang="zh-CN" sz="18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intelligent study assistant</a:t>
            </a:r>
            <a:r>
              <a:rPr lang="en-US" altLang="zh-CN" sz="18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 that can:</a:t>
            </a:r>
            <a:endParaRPr lang="en-US" altLang="zh-CN" sz="18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05943" indent="-305943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r>
              <a:rPr lang="en-US" altLang="zh-CN" sz="18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Explain difficult concepts in simple and easy-to-understand terms</a:t>
            </a:r>
            <a:endParaRPr lang="en-US" altLang="zh-CN" sz="18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05943" indent="-305943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r>
              <a:rPr lang="en-US" altLang="zh-CN" sz="18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Summarize study notes for quick learning</a:t>
            </a:r>
            <a:endParaRPr lang="en-US" altLang="zh-CN" sz="18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05943" indent="-305943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r>
              <a:rPr lang="en-US" altLang="zh-CN" sz="18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Generate quizzes or flashcards on demand for self-assessment</a:t>
            </a:r>
            <a:endParaRPr lang="en-US" altLang="zh-CN" sz="18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05943" indent="-305943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r>
              <a:rPr lang="en-US" altLang="zh-CN" sz="18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AI-powered tools can address this gap by providing </a:t>
            </a:r>
            <a:r>
              <a:rPr lang="en-US" altLang="zh-CN" sz="18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personalized, on-demand learning support</a:t>
            </a:r>
            <a:r>
              <a:rPr lang="en-US" altLang="zh-CN" sz="18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, making study sessions more efficient and engaging.</a:t>
            </a:r>
            <a:endParaRPr lang="en-US" altLang="zh-CN" sz="18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05943" indent="-305943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endParaRPr lang="zh-CN" altLang="en-US" sz="18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598685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文本框"/>
          <p:cNvSpPr>
            <a:spLocks noGrp="1"/>
          </p:cNvSpPr>
          <p:nvPr>
            <p:ph type="title"/>
          </p:nvPr>
        </p:nvSpPr>
        <p:spPr>
          <a:xfrm rot="0">
            <a:off x="581192" y="662572"/>
            <a:ext cx="11029616" cy="5302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all" spc="0" baseline="0">
                <a:solidFill>
                  <a:schemeClr val="accent1"/>
                </a:solidFill>
                <a:latin typeface="Arial" pitchFamily="34" charset="0"/>
                <a:ea typeface="Franklin Gothic Demi" pitchFamily="0" charset="0"/>
                <a:cs typeface="Arial" pitchFamily="34" charset="0"/>
              </a:rPr>
              <a:t>System  Approach</a:t>
            </a:r>
            <a:endParaRPr lang="zh-CN" altLang="en-US" sz="3600" b="0" i="0" u="none" strike="noStrike" kern="1200" cap="all" spc="0" baseline="0">
              <a:solidFill>
                <a:schemeClr val="accent1"/>
              </a:solidFill>
              <a:latin typeface="Calibri Light" pitchFamily="0" charset="0"/>
              <a:ea typeface="华文中宋" pitchFamily="0" charset="0"/>
              <a:cs typeface="Calibri Light" pitchFamily="0" charset="0"/>
            </a:endParaRPr>
          </a:p>
        </p:txBody>
      </p:sp>
      <p:sp>
        <p:nvSpPr>
          <p:cNvPr id="47" name="文本框"/>
          <p:cNvSpPr>
            <a:spLocks noGrp="1"/>
          </p:cNvSpPr>
          <p:nvPr>
            <p:ph type="body" idx="1"/>
          </p:nvPr>
        </p:nvSpPr>
        <p:spPr>
          <a:xfrm rot="0">
            <a:off x="494950" y="1585518"/>
            <a:ext cx="11115857" cy="43898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None/>
            </a:pPr>
            <a:endParaRPr lang="en-US" altLang="zh-CN" sz="1600" b="1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05943" indent="-305943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" pitchFamily="2" charset="2"/>
              <a:buChar char="ü"/>
            </a:pPr>
            <a:r>
              <a:rPr lang="en-US" altLang="zh-CN" sz="16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Programming Language</a:t>
            </a:r>
            <a:endParaRPr lang="en-US" altLang="zh-CN" sz="16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lvl="1" marL="629793" indent="-305943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Arial" pitchFamily="34" charset="0"/>
              <a:buChar char="•"/>
            </a:pPr>
            <a:r>
              <a:rPr lang="en-US" altLang="zh-CN" sz="16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Python 3.10+</a:t>
            </a:r>
            <a:r>
              <a:rPr lang="en-US" altLang="zh-CN" sz="16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 – core language for backend and AI integration</a:t>
            </a:r>
            <a:endParaRPr lang="en-US" altLang="zh-CN" sz="16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05943" indent="-305943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" pitchFamily="2" charset="2"/>
              <a:buChar char="ü"/>
            </a:pPr>
            <a:r>
              <a:rPr lang="en-US" altLang="zh-CN" sz="16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AI &amp; APIs</a:t>
            </a:r>
            <a:endParaRPr lang="en-US" altLang="zh-CN" sz="16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lvl="1" marL="629793" indent="-305943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Arial" pitchFamily="34" charset="0"/>
              <a:buChar char="•"/>
            </a:pPr>
            <a:r>
              <a:rPr lang="en-US" altLang="zh-CN" sz="16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Google Gemini 2.5 Flash</a:t>
            </a:r>
            <a:r>
              <a:rPr lang="en-US" altLang="zh-CN" sz="16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 – for AI-powered explanations, summarization, and quiz generation</a:t>
            </a:r>
            <a:endParaRPr lang="en-US" altLang="zh-CN" sz="16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lvl="1" marL="629793" indent="-305943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Arial" pitchFamily="34" charset="0"/>
              <a:buChar char="•"/>
            </a:pPr>
            <a:r>
              <a:rPr lang="en-US" altLang="zh-CN" sz="16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OpenAI / Generative AI APIs</a:t>
            </a:r>
            <a:r>
              <a:rPr lang="en-US" altLang="zh-CN" sz="16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 (if applicable)</a:t>
            </a:r>
            <a:endParaRPr lang="en-US" altLang="zh-CN" sz="16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05943" indent="-305943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" pitchFamily="2" charset="2"/>
              <a:buChar char="ü"/>
            </a:pPr>
            <a:r>
              <a:rPr lang="en-US" altLang="zh-CN" sz="16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Web Framework</a:t>
            </a:r>
            <a:endParaRPr lang="en-US" altLang="zh-CN" sz="16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lvl="1" marL="629793" indent="-305943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Arial" pitchFamily="34" charset="0"/>
              <a:buChar char="•"/>
            </a:pPr>
            <a:r>
              <a:rPr lang="en-US" altLang="zh-CN" sz="16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Streamlit</a:t>
            </a:r>
            <a:r>
              <a:rPr lang="en-US" altLang="zh-CN" sz="16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 – for building the interactive frontend and deployment</a:t>
            </a:r>
            <a:endParaRPr lang="en-US" altLang="zh-CN" sz="16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05943" indent="-305943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" pitchFamily="2" charset="2"/>
              <a:buChar char="ü"/>
            </a:pPr>
            <a:r>
              <a:rPr lang="en-US" altLang="zh-CN" sz="16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Environment &amp; Deployment</a:t>
            </a:r>
            <a:endParaRPr lang="en-US" altLang="zh-CN" sz="16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lvl="1" marL="629793" indent="-305943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Arial" pitchFamily="34" charset="0"/>
              <a:buChar char="•"/>
            </a:pPr>
            <a:r>
              <a:rPr lang="en-US" altLang="zh-CN" sz="16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.env files</a:t>
            </a:r>
            <a:r>
              <a:rPr lang="en-US" altLang="zh-CN" sz="16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 – secure storage of API keys</a:t>
            </a:r>
            <a:endParaRPr lang="en-US" altLang="zh-CN" sz="16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lvl="1" marL="629793" indent="-305943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Arial" pitchFamily="34" charset="0"/>
              <a:buChar char="•"/>
            </a:pPr>
            <a:r>
              <a:rPr lang="en-US" altLang="zh-CN" sz="16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Docker</a:t>
            </a:r>
            <a:r>
              <a:rPr lang="en-US" altLang="zh-CN" sz="16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 – containerization for consistent environment</a:t>
            </a:r>
            <a:endParaRPr lang="en-US" altLang="zh-CN" sz="16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lvl="1" marL="629793" indent="-305943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Arial" pitchFamily="34" charset="0"/>
              <a:buChar char="•"/>
            </a:pPr>
            <a:r>
              <a:rPr lang="en-US" altLang="zh-CN" sz="16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Google Cloud Run / </a:t>
            </a:r>
            <a:r>
              <a:rPr lang="en-US" altLang="zh-CN" sz="16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Streamlit</a:t>
            </a:r>
            <a:r>
              <a:rPr lang="en-US" altLang="zh-CN" sz="16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 Cloud</a:t>
            </a:r>
            <a:r>
              <a:rPr lang="en-US" altLang="zh-CN" sz="16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 – deployment of the app online</a:t>
            </a:r>
            <a:endParaRPr lang="en-US" altLang="zh-CN" sz="16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05943" indent="-305943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" pitchFamily="2" charset="2"/>
              <a:buChar char="ü"/>
            </a:pPr>
            <a:r>
              <a:rPr lang="en-US" altLang="zh-CN" sz="16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Supporting Libraries</a:t>
            </a:r>
            <a:endParaRPr lang="en-US" altLang="zh-CN" sz="16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lvl="1" marL="629793" indent="-305943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Arial" pitchFamily="34" charset="0"/>
              <a:buChar char="•"/>
            </a:pPr>
            <a:r>
              <a:rPr lang="en-US" altLang="zh-CN" sz="16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pandas, </a:t>
            </a:r>
            <a:r>
              <a:rPr lang="en-US" altLang="zh-CN" sz="16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numpy</a:t>
            </a:r>
            <a:r>
              <a:rPr lang="en-US" altLang="zh-CN" sz="16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 – for data handling</a:t>
            </a:r>
            <a:endParaRPr lang="en-US" altLang="zh-CN" sz="16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lvl="1" marL="629793" indent="-305943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Arial" pitchFamily="34" charset="0"/>
              <a:buChar char="•"/>
            </a:pPr>
            <a:r>
              <a:rPr lang="en-US" altLang="zh-CN" sz="16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python-</a:t>
            </a:r>
            <a:r>
              <a:rPr lang="en-US" altLang="zh-CN" sz="16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dotenv</a:t>
            </a:r>
            <a:r>
              <a:rPr lang="en-US" altLang="zh-CN" sz="16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 – for managing environment variables</a:t>
            </a:r>
            <a:endParaRPr lang="en-US" altLang="zh-CN" sz="16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05943" indent="-305943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endParaRPr lang="zh-CN" altLang="en-US" sz="16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709826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文本框"/>
          <p:cNvSpPr>
            <a:spLocks noGrp="1"/>
          </p:cNvSpPr>
          <p:nvPr>
            <p:ph type="title"/>
          </p:nvPr>
        </p:nvSpPr>
        <p:spPr>
          <a:xfrm rot="0">
            <a:off x="427839" y="427840"/>
            <a:ext cx="11182969" cy="67950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all" spc="0" baseline="0">
                <a:solidFill>
                  <a:schemeClr val="accent1"/>
                </a:solidFill>
                <a:latin typeface="Arial" pitchFamily="34" charset="0"/>
                <a:ea typeface="Franklin Gothic Demi" pitchFamily="0" charset="0"/>
                <a:cs typeface="Arial" pitchFamily="34" charset="0"/>
              </a:rPr>
              <a:t>Algorithm &amp; Deployment</a:t>
            </a:r>
            <a:endParaRPr lang="zh-CN" altLang="en-US" sz="3600" b="0" i="0" u="none" strike="noStrike" kern="1200" cap="all" spc="0" baseline="0">
              <a:solidFill>
                <a:srgbClr val="404040"/>
              </a:solidFill>
              <a:latin typeface="Franklin Gothic Demi" pitchFamily="0" charset="0"/>
              <a:ea typeface="华文中宋" pitchFamily="0" charset="0"/>
              <a:cs typeface="Lucida Sans" pitchFamily="0" charset="0"/>
            </a:endParaRPr>
          </a:p>
        </p:txBody>
      </p:sp>
      <p:sp>
        <p:nvSpPr>
          <p:cNvPr id="51" name="文本框"/>
          <p:cNvSpPr>
            <a:spLocks noGrp="1"/>
          </p:cNvSpPr>
          <p:nvPr>
            <p:ph type="body" idx="1"/>
          </p:nvPr>
        </p:nvSpPr>
        <p:spPr>
          <a:xfrm rot="0">
            <a:off x="360727" y="1099825"/>
            <a:ext cx="10916873" cy="610933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  <a:spAutoFit/>
          </a:bodyPr>
          <a:lstStyle/>
          <a:p>
            <a:pPr marL="0" indent="0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1481AC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Algorithm</a:t>
            </a:r>
            <a:endParaRPr lang="en-US" altLang="zh-CN" sz="1400" b="1" i="0" u="none" strike="noStrike" kern="1200" cap="none" spc="0" baseline="0">
              <a:solidFill>
                <a:srgbClr val="1481AC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05943" indent="-305943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" pitchFamily="2" charset="2"/>
              <a:buChar char="§"/>
            </a:pPr>
            <a:r>
              <a:rPr lang="en-US" altLang="zh-CN" sz="14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User Interaction</a:t>
            </a:r>
            <a:endParaRPr lang="en-US" altLang="zh-CN" sz="14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0" indent="0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      Students input topics, notes, or questions . Simple, intuitive interface for entering queries.</a:t>
            </a:r>
            <a:endParaRPr lang="en-US" altLang="zh-CN" sz="14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05943" indent="-305943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r>
              <a:rPr lang="en-US" altLang="zh-CN" sz="14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AI Processing</a:t>
            </a:r>
            <a:endParaRPr lang="en-US" altLang="zh-CN" sz="14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0" indent="0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      Google Gemini 2.5 Flash generates explanations, summaries, and quizzes . Efficient handling of long or complex inputs.</a:t>
            </a:r>
            <a:endParaRPr lang="en-US" altLang="zh-CN" sz="14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05943" indent="-305943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r>
              <a:rPr lang="en-US" altLang="zh-CN" sz="14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Performance</a:t>
            </a:r>
            <a:endParaRPr lang="en-US" altLang="zh-CN" sz="14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0" indent="0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      Responses delivered under 3 seconds for typical queries . Optimized for lightweight and fast processing in </a:t>
            </a:r>
            <a:r>
              <a:rPr lang="en-US" altLang="zh-CN" sz="14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Streamlit</a:t>
            </a:r>
            <a:r>
              <a:rPr lang="en-US" altLang="zh-CN" sz="14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.</a:t>
            </a:r>
            <a:endParaRPr lang="en-US" altLang="zh-CN" sz="14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05943" indent="-305943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r>
              <a:rPr lang="en-US" altLang="zh-CN" sz="14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Availability &amp; Accessibility</a:t>
            </a:r>
            <a:endParaRPr lang="en-US" altLang="zh-CN" sz="14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05943" indent="-305943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r>
              <a:rPr lang="en-US" altLang="zh-CN" sz="14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App accessible online 24/7 via </a:t>
            </a:r>
            <a:r>
              <a:rPr lang="en-US" altLang="zh-CN" sz="14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Streamlit</a:t>
            </a:r>
            <a:r>
              <a:rPr lang="en-US" altLang="zh-CN" sz="14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 Cloud or Google Cloud Run . Mobile-responsive interface for laptops, tablets, and phones.</a:t>
            </a:r>
            <a:endParaRPr lang="en-US" altLang="zh-CN" sz="14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05943" indent="-305943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r>
              <a:rPr lang="en-US" altLang="zh-CN" sz="14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Scalability &amp; Future Integration</a:t>
            </a:r>
            <a:endParaRPr lang="en-US" altLang="zh-CN" sz="14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05943" indent="-305943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r>
              <a:rPr lang="en-US" altLang="zh-CN" sz="14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Modular architecture for adding new features (e.g., flashcards, topic recommendations, multilingual support).Cloud deployment ensures handling multiple users simultaneously without performance degradation.</a:t>
            </a:r>
            <a:endParaRPr lang="en-US" altLang="zh-CN" sz="14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0" indent="0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1481AC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Deployment</a:t>
            </a:r>
            <a:endParaRPr lang="en-US" altLang="zh-CN" sz="1400" b="0" i="0" u="none" strike="noStrike" kern="1200" cap="none" spc="0" baseline="0">
              <a:solidFill>
                <a:srgbClr val="1481AC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05943" indent="-305943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r>
              <a:rPr lang="en-US" altLang="zh-CN" sz="14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Local Testing:</a:t>
            </a:r>
            <a:r>
              <a:rPr lang="en-US" altLang="zh-CN" sz="14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 </a:t>
            </a:r>
            <a:r>
              <a:rPr lang="en-US" altLang="zh-CN" sz="14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streamlit</a:t>
            </a:r>
            <a:r>
              <a:rPr lang="en-US" altLang="zh-CN" sz="14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 run app.py</a:t>
            </a:r>
            <a:endParaRPr lang="en-US" altLang="zh-CN" sz="14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05943" indent="-305943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r>
              <a:rPr lang="en-US" altLang="zh-CN" sz="14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Cloud Deployment: </a:t>
            </a:r>
            <a:r>
              <a:rPr lang="en-US" altLang="zh-CN" sz="14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Streamlit</a:t>
            </a:r>
            <a:r>
              <a:rPr lang="en-US" altLang="zh-CN" sz="14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 Cloud → Connect GitHub repo → Deploy</a:t>
            </a:r>
            <a:endParaRPr lang="en-US" altLang="zh-CN" sz="14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05943" indent="-305943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r>
              <a:rPr lang="en-US" altLang="zh-CN" sz="14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Google Cloud Run → Containerize with Docker → </a:t>
            </a:r>
            <a:r>
              <a:rPr lang="en-US" altLang="zh-CN" sz="14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gcloud</a:t>
            </a:r>
            <a:r>
              <a:rPr lang="en-US" altLang="zh-CN" sz="14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 builds submit → </a:t>
            </a:r>
            <a:r>
              <a:rPr lang="en-US" altLang="zh-CN" sz="14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gcloud</a:t>
            </a:r>
            <a:r>
              <a:rPr lang="en-US" altLang="zh-CN" sz="14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 run deploy</a:t>
            </a:r>
            <a:endParaRPr lang="en-US" altLang="zh-CN" sz="14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05943" indent="-305943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r>
              <a:rPr lang="en-US" altLang="zh-CN" sz="14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Secure environment variable management for API keys using .env or </a:t>
            </a:r>
            <a:r>
              <a:rPr lang="en-US" altLang="zh-CN" sz="14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Streamlit</a:t>
            </a:r>
            <a:r>
              <a:rPr lang="en-US" altLang="zh-CN" sz="14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 Secrets.</a:t>
            </a:r>
            <a:endParaRPr lang="en-US" altLang="zh-CN" sz="14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None/>
            </a:pPr>
            <a:endParaRPr lang="zh-CN" altLang="en-US" sz="14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68808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"/>
          <p:cNvSpPr>
            <a:spLocks noGrp="1"/>
          </p:cNvSpPr>
          <p:nvPr>
            <p:ph type="title"/>
          </p:nvPr>
        </p:nvSpPr>
        <p:spPr>
          <a:xfrm rot="0">
            <a:off x="581192" y="702155"/>
            <a:ext cx="11029616" cy="5302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all" spc="0" baseline="0">
                <a:solidFill>
                  <a:schemeClr val="accent1"/>
                </a:solidFill>
                <a:latin typeface="Arial" pitchFamily="34" charset="0"/>
                <a:ea typeface="Franklin Gothic Demi" pitchFamily="0" charset="0"/>
                <a:cs typeface="Arial" pitchFamily="34" charset="0"/>
              </a:rPr>
              <a:t>Result</a:t>
            </a:r>
            <a:endParaRPr lang="zh-CN" altLang="en-US" sz="3600" b="0" i="0" u="none" strike="noStrike" kern="1200" cap="all" spc="0" baseline="0">
              <a:solidFill>
                <a:srgbClr val="404040"/>
              </a:solidFill>
              <a:latin typeface="Franklin Gothic Demi" pitchFamily="0" charset="0"/>
              <a:ea typeface="华文中宋" pitchFamily="0" charset="0"/>
              <a:cs typeface="Lucida Sans" pitchFamily="0" charset="0"/>
            </a:endParaRPr>
          </a:p>
        </p:txBody>
      </p:sp>
      <p:pic>
        <p:nvPicPr>
          <p:cNvPr id="55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11760" y="1818640"/>
            <a:ext cx="5791200" cy="416687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56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6096000" y="1808480"/>
            <a:ext cx="5913120" cy="416687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57" name="矩形"/>
          <p:cNvSpPr>
            <a:spLocks/>
          </p:cNvSpPr>
          <p:nvPr/>
        </p:nvSpPr>
        <p:spPr>
          <a:xfrm rot="0">
            <a:off x="182880" y="1330960"/>
            <a:ext cx="3464559" cy="3581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Franklin Gothic Book" pitchFamily="0" charset="0"/>
                <a:ea typeface="华文中宋" pitchFamily="0" charset="0"/>
                <a:cs typeface="Franklin Gothic Book" pitchFamily="0" charset="0"/>
              </a:rPr>
              <a:t>a)Interface Page/Landing page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Franklin Gothic Book" pitchFamily="0" charset="0"/>
              <a:ea typeface="华文中宋" pitchFamily="0" charset="0"/>
              <a:cs typeface="Franklin Gothic Book" pitchFamily="0" charset="0"/>
            </a:endParaRPr>
          </a:p>
        </p:txBody>
      </p:sp>
      <p:sp>
        <p:nvSpPr>
          <p:cNvPr id="58" name="矩形"/>
          <p:cNvSpPr>
            <a:spLocks/>
          </p:cNvSpPr>
          <p:nvPr/>
        </p:nvSpPr>
        <p:spPr>
          <a:xfrm rot="0">
            <a:off x="6228079" y="1330960"/>
            <a:ext cx="3251199" cy="3581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Franklin Gothic Book" pitchFamily="0" charset="0"/>
                <a:ea typeface="华文中宋" pitchFamily="0" charset="0"/>
                <a:cs typeface="Franklin Gothic Book" pitchFamily="0" charset="0"/>
              </a:rPr>
              <a:t>b) Explaining concept Page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Franklin Gothic Book" pitchFamily="0" charset="0"/>
              <a:ea typeface="华文中宋" pitchFamily="0" charset="0"/>
              <a:cs typeface="Franklin Gothic Book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512294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"/>
          <p:cNvSpPr>
            <a:spLocks noGrp="1"/>
          </p:cNvSpPr>
          <p:nvPr>
            <p:ph type="title"/>
          </p:nvPr>
        </p:nvSpPr>
        <p:spPr>
          <a:xfrm rot="0">
            <a:off x="581192" y="702155"/>
            <a:ext cx="11029616" cy="5302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all" spc="0" baseline="0">
                <a:solidFill>
                  <a:schemeClr val="accent1"/>
                </a:solidFill>
                <a:latin typeface="Arial" pitchFamily="34" charset="0"/>
                <a:ea typeface="Franklin Gothic Demi" pitchFamily="0" charset="0"/>
                <a:cs typeface="Arial" pitchFamily="34" charset="0"/>
              </a:rPr>
              <a:t>Result</a:t>
            </a:r>
            <a:endParaRPr lang="zh-CN" altLang="en-US" sz="3600" b="0" i="0" u="none" strike="noStrike" kern="1200" cap="all" spc="0" baseline="0">
              <a:solidFill>
                <a:srgbClr val="404040"/>
              </a:solidFill>
              <a:latin typeface="Franklin Gothic Demi" pitchFamily="0" charset="0"/>
              <a:ea typeface="华文中宋" pitchFamily="0" charset="0"/>
              <a:cs typeface="Lucida Sans" pitchFamily="0" charset="0"/>
            </a:endParaRPr>
          </a:p>
        </p:txBody>
      </p:sp>
      <p:pic>
        <p:nvPicPr>
          <p:cNvPr id="62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01600" y="1656080"/>
            <a:ext cx="6146800" cy="437896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63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6431280" y="1656080"/>
            <a:ext cx="5659118" cy="437896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456815078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文本框"/>
          <p:cNvSpPr>
            <a:spLocks noGrp="1"/>
          </p:cNvSpPr>
          <p:nvPr>
            <p:ph type="title"/>
          </p:nvPr>
        </p:nvSpPr>
        <p:spPr>
          <a:xfrm rot="0">
            <a:off x="581192" y="702155"/>
            <a:ext cx="11029616" cy="5302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all" spc="0" baseline="0">
                <a:solidFill>
                  <a:schemeClr val="accent1"/>
                </a:solidFill>
                <a:latin typeface="Arial" pitchFamily="34" charset="0"/>
                <a:ea typeface="Franklin Gothic Demi" pitchFamily="0" charset="0"/>
                <a:cs typeface="Arial" pitchFamily="34" charset="0"/>
              </a:rPr>
              <a:t>Result</a:t>
            </a:r>
            <a:endParaRPr lang="zh-CN" altLang="en-US" sz="3600" b="0" i="0" u="none" strike="noStrike" kern="1200" cap="all" spc="0" baseline="0">
              <a:solidFill>
                <a:srgbClr val="404040"/>
              </a:solidFill>
              <a:latin typeface="Franklin Gothic Demi" pitchFamily="0" charset="0"/>
              <a:ea typeface="华文中宋" pitchFamily="0" charset="0"/>
              <a:cs typeface="Lucida Sans" pitchFamily="0" charset="0"/>
            </a:endParaRPr>
          </a:p>
        </p:txBody>
      </p:sp>
      <p:pic>
        <p:nvPicPr>
          <p:cNvPr id="67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32080" y="1889759"/>
            <a:ext cx="5963920" cy="4266084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68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6421120" y="1889759"/>
            <a:ext cx="5638799" cy="4266084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023946195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文本框"/>
          <p:cNvSpPr>
            <a:spLocks noGrp="1"/>
          </p:cNvSpPr>
          <p:nvPr>
            <p:ph type="title"/>
          </p:nvPr>
        </p:nvSpPr>
        <p:spPr>
          <a:xfrm rot="0">
            <a:off x="581192" y="702155"/>
            <a:ext cx="11029616" cy="5302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all" spc="0" baseline="0">
                <a:solidFill>
                  <a:schemeClr val="accent1"/>
                </a:solidFill>
                <a:latin typeface="Arial" pitchFamily="34" charset="0"/>
                <a:ea typeface="Franklin Gothic Demi" pitchFamily="0" charset="0"/>
                <a:cs typeface="Arial" pitchFamily="34" charset="0"/>
              </a:rPr>
              <a:t>Result</a:t>
            </a:r>
            <a:endParaRPr lang="zh-CN" altLang="en-US" sz="3600" b="0" i="0" u="none" strike="noStrike" kern="1200" cap="all" spc="0" baseline="0">
              <a:solidFill>
                <a:srgbClr val="404040"/>
              </a:solidFill>
              <a:latin typeface="Franklin Gothic Demi" pitchFamily="0" charset="0"/>
              <a:ea typeface="华文中宋" pitchFamily="0" charset="0"/>
              <a:cs typeface="Lucida Sans" pitchFamily="0" charset="0"/>
            </a:endParaRPr>
          </a:p>
        </p:txBody>
      </p:sp>
      <p:pic>
        <p:nvPicPr>
          <p:cNvPr id="72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01600" y="1767840"/>
            <a:ext cx="6065520" cy="4388003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73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6492240" y="1767840"/>
            <a:ext cx="5598160" cy="438800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74" name="矩形"/>
          <p:cNvSpPr>
            <a:spLocks/>
          </p:cNvSpPr>
          <p:nvPr/>
        </p:nvSpPr>
        <p:spPr>
          <a:xfrm rot="0">
            <a:off x="294640" y="1320800"/>
            <a:ext cx="2570480" cy="3581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Franklin Gothic Book" pitchFamily="0" charset="0"/>
                <a:ea typeface="华文中宋" pitchFamily="0" charset="0"/>
                <a:cs typeface="Franklin Gothic Book" pitchFamily="0" charset="0"/>
              </a:rPr>
              <a:t>c) Summarize Page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Franklin Gothic Book" pitchFamily="0" charset="0"/>
              <a:ea typeface="华文中宋" pitchFamily="0" charset="0"/>
              <a:cs typeface="Franklin Gothic Book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759523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文本框"/>
          <p:cNvSpPr>
            <a:spLocks noGrp="1"/>
          </p:cNvSpPr>
          <p:nvPr>
            <p:ph type="title"/>
          </p:nvPr>
        </p:nvSpPr>
        <p:spPr>
          <a:xfrm rot="0">
            <a:off x="581192" y="702155"/>
            <a:ext cx="11029616" cy="5302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all" spc="0" baseline="0">
                <a:solidFill>
                  <a:schemeClr val="accent1"/>
                </a:solidFill>
                <a:latin typeface="Arial" pitchFamily="34" charset="0"/>
                <a:ea typeface="Franklin Gothic Demi" pitchFamily="0" charset="0"/>
                <a:cs typeface="Arial" pitchFamily="34" charset="0"/>
              </a:rPr>
              <a:t>Result</a:t>
            </a:r>
            <a:endParaRPr lang="zh-CN" altLang="en-US" sz="3600" b="0" i="0" u="none" strike="noStrike" kern="1200" cap="all" spc="0" baseline="0">
              <a:solidFill>
                <a:srgbClr val="404040"/>
              </a:solidFill>
              <a:latin typeface="Franklin Gothic Demi" pitchFamily="0" charset="0"/>
              <a:ea typeface="华文中宋" pitchFamily="0" charset="0"/>
              <a:cs typeface="Lucida Sans" pitchFamily="0" charset="0"/>
            </a:endParaRPr>
          </a:p>
        </p:txBody>
      </p:sp>
      <p:pic>
        <p:nvPicPr>
          <p:cNvPr id="78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01601" y="1960880"/>
            <a:ext cx="6106160" cy="4194962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79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6400799" y="1960880"/>
            <a:ext cx="5689599" cy="4194962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80" name="矩形"/>
          <p:cNvSpPr>
            <a:spLocks/>
          </p:cNvSpPr>
          <p:nvPr/>
        </p:nvSpPr>
        <p:spPr>
          <a:xfrm rot="0">
            <a:off x="6400799" y="1442720"/>
            <a:ext cx="1656081" cy="3581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Franklin Gothic Book" pitchFamily="0" charset="0"/>
                <a:ea typeface="华文中宋" pitchFamily="0" charset="0"/>
                <a:cs typeface="Franklin Gothic Book" pitchFamily="0" charset="0"/>
              </a:rPr>
              <a:t>d) Quiz page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Franklin Gothic Book" pitchFamily="0" charset="0"/>
              <a:ea typeface="华文中宋" pitchFamily="0" charset="0"/>
              <a:cs typeface="Franklin Gothic Book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523931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文本框"/>
          <p:cNvSpPr>
            <a:spLocks noGrp="1"/>
          </p:cNvSpPr>
          <p:nvPr>
            <p:ph type="title"/>
          </p:nvPr>
        </p:nvSpPr>
        <p:spPr>
          <a:xfrm rot="0">
            <a:off x="581192" y="702155"/>
            <a:ext cx="11029616" cy="5302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all" spc="0" baseline="0">
                <a:solidFill>
                  <a:srgbClr val="404040"/>
                </a:solidFill>
                <a:latin typeface="Franklin Gothic Demi" pitchFamily="0" charset="0"/>
                <a:ea typeface="华文中宋" pitchFamily="0" charset="0"/>
                <a:cs typeface="Lucida Sans" pitchFamily="0" charset="0"/>
              </a:rPr>
              <a:t>GITHUB AND DEPLOYMNET LINK</a:t>
            </a:r>
            <a:endParaRPr lang="zh-CN" altLang="en-US" sz="2800" b="0" i="0" u="none" strike="noStrike" kern="1200" cap="all" spc="0" baseline="0">
              <a:solidFill>
                <a:srgbClr val="404040"/>
              </a:solidFill>
              <a:latin typeface="Franklin Gothic Demi" pitchFamily="0" charset="0"/>
              <a:ea typeface="华文中宋" pitchFamily="0" charset="0"/>
              <a:cs typeface="Lucida Sans" pitchFamily="0" charset="0"/>
            </a:endParaRPr>
          </a:p>
        </p:txBody>
      </p:sp>
      <p:sp>
        <p:nvSpPr>
          <p:cNvPr id="84" name="文本框"/>
          <p:cNvSpPr>
            <a:spLocks noGrp="1"/>
          </p:cNvSpPr>
          <p:nvPr>
            <p:ph type="body" idx="1"/>
          </p:nvPr>
        </p:nvSpPr>
        <p:spPr>
          <a:xfrm rot="0">
            <a:off x="581192" y="1302026"/>
            <a:ext cx="11029615" cy="467332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305435" indent="-305435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r>
              <a:rPr lang="en-US" altLang="zh-CN" sz="2800" b="1" i="0" u="none" strike="noStrike" kern="1200" cap="none" spc="0" baseline="0">
                <a:solidFill>
                  <a:srgbClr val="000000"/>
                </a:solidFill>
                <a:latin typeface="Franklin Gothic Book" pitchFamily="0" charset="0"/>
                <a:ea typeface="华文中宋" pitchFamily="0" charset="0"/>
                <a:cs typeface="Lucida Sans" pitchFamily="0" charset="0"/>
              </a:rPr>
              <a:t>Attach</a:t>
            </a:r>
            <a:r>
              <a:rPr lang="en-US" altLang="zh-CN" sz="2800" b="1" i="0" u="none" strike="noStrike" kern="1200" cap="none" spc="0" baseline="0">
                <a:solidFill>
                  <a:srgbClr val="00B0F0"/>
                </a:solidFill>
                <a:latin typeface="Franklin Gothic Book" pitchFamily="0" charset="0"/>
                <a:ea typeface="华文中宋" pitchFamily="0" charset="0"/>
                <a:cs typeface="Lucida Sans" pitchFamily="0" charset="0"/>
              </a:rPr>
              <a:t> </a:t>
            </a:r>
            <a:r>
              <a:rPr lang="en-US" altLang="zh-CN" sz="2800" b="1" i="0" u="none" strike="noStrike" kern="1200" cap="none" spc="0" baseline="0">
                <a:solidFill>
                  <a:srgbClr val="000000"/>
                </a:solidFill>
                <a:latin typeface="Franklin Gothic Book" pitchFamily="0" charset="0"/>
                <a:ea typeface="华文中宋" pitchFamily="0" charset="0"/>
                <a:cs typeface="Lucida Sans" pitchFamily="0" charset="0"/>
              </a:rPr>
              <a:t>your</a:t>
            </a:r>
            <a:r>
              <a:rPr lang="en-US" altLang="zh-CN" sz="2800" b="1" i="0" u="none" strike="noStrike" kern="1200" cap="none" spc="0" baseline="0">
                <a:solidFill>
                  <a:srgbClr val="00B0F0"/>
                </a:solidFill>
                <a:latin typeface="Franklin Gothic Book" pitchFamily="0" charset="0"/>
                <a:ea typeface="华文中宋" pitchFamily="0" charset="0"/>
                <a:cs typeface="Lucida Sans" pitchFamily="0" charset="0"/>
              </a:rPr>
              <a:t> </a:t>
            </a:r>
            <a:r>
              <a:rPr lang="en-US" altLang="zh-CN" sz="2800" b="1" i="0" u="none" strike="noStrike" kern="1200" cap="none" spc="0" baseline="0">
                <a:solidFill>
                  <a:srgbClr val="000000"/>
                </a:solidFill>
                <a:latin typeface="Franklin Gothic Book" pitchFamily="0" charset="0"/>
                <a:ea typeface="华文中宋" pitchFamily="0" charset="0"/>
                <a:cs typeface="Lucida Sans" pitchFamily="0" charset="0"/>
              </a:rPr>
              <a:t>GitHub</a:t>
            </a:r>
            <a:r>
              <a:rPr lang="en-US" altLang="zh-CN" sz="2800" b="1" i="0" u="none" strike="noStrike" kern="1200" cap="none" spc="0" baseline="0">
                <a:solidFill>
                  <a:srgbClr val="00B0F0"/>
                </a:solidFill>
                <a:latin typeface="Franklin Gothic Book" pitchFamily="0" charset="0"/>
                <a:ea typeface="华文中宋" pitchFamily="0" charset="0"/>
                <a:cs typeface="Lucida Sans" pitchFamily="0" charset="0"/>
              </a:rPr>
              <a:t> </a:t>
            </a:r>
            <a:r>
              <a:rPr lang="en-US" altLang="zh-CN" sz="2800" b="1" i="0" u="none" strike="noStrike" kern="1200" cap="none" spc="0" baseline="0">
                <a:solidFill>
                  <a:srgbClr val="000000"/>
                </a:solidFill>
                <a:latin typeface="Franklin Gothic Book" pitchFamily="0" charset="0"/>
                <a:ea typeface="华文中宋" pitchFamily="0" charset="0"/>
                <a:cs typeface="Lucida Sans" pitchFamily="0" charset="0"/>
              </a:rPr>
              <a:t>Link </a:t>
            </a:r>
            <a:r>
              <a:rPr lang="en-US" altLang="zh-CN" sz="2800" b="1" i="0" u="none" strike="noStrike" kern="1200" cap="none" spc="0" baseline="0">
                <a:solidFill>
                  <a:srgbClr val="000000"/>
                </a:solidFill>
                <a:latin typeface="Franklin Gothic Book" pitchFamily="0" charset="0"/>
                <a:ea typeface="华文中宋" pitchFamily="0" charset="0"/>
                <a:cs typeface="Lucida Sans" pitchFamily="0" charset="0"/>
              </a:rPr>
              <a:t>:</a:t>
            </a:r>
            <a:r>
              <a:rPr lang="en-US" altLang="zh-CN" sz="2800" b="1" i="0" u="none" strike="noStrike" kern="1200" cap="none" spc="0" baseline="0">
                <a:solidFill>
                  <a:srgbClr val="00B0F0"/>
                </a:solidFill>
                <a:latin typeface="Franklin Gothic Book" pitchFamily="0" charset="0"/>
                <a:ea typeface="华文中宋" pitchFamily="0" charset="0"/>
                <a:cs typeface="Lucida Sans" pitchFamily="0" charset="0"/>
              </a:rPr>
              <a:t> </a:t>
            </a:r>
            <a:r>
              <a:rPr lang="en-US" altLang="zh-CN" sz="2800" b="1" i="0" u="none" strike="noStrike" kern="1200" cap="none" spc="0" baseline="0">
                <a:solidFill>
                  <a:srgbClr val="00B0F0"/>
                </a:solidFill>
                <a:latin typeface="Franklin Gothic Book" pitchFamily="0" charset="0"/>
                <a:ea typeface="华文中宋" pitchFamily="0" charset="0"/>
                <a:cs typeface="Lucida Sans" pitchFamily="0" charset="0"/>
              </a:rPr>
              <a:t>https://github.com/srujanayadav379/AI-POWERED-STUDYBUDDY.gi</a:t>
            </a:r>
            <a:r>
              <a:rPr lang="en-US" altLang="zh-CN" sz="2800" b="1" i="0" u="none" strike="noStrike" kern="1200" cap="none" spc="0" baseline="0">
                <a:solidFill>
                  <a:srgbClr val="00B0F0"/>
                </a:solidFill>
                <a:latin typeface="Franklin Gothic Book" pitchFamily="0" charset="0"/>
                <a:ea typeface="华文中宋" pitchFamily="0" charset="0"/>
                <a:cs typeface="Lucida Sans" pitchFamily="0" charset="0"/>
              </a:rPr>
              <a:t>t</a:t>
            </a:r>
            <a:endParaRPr lang="en-US" altLang="zh-CN" sz="2800" b="1" i="0" u="none" strike="noStrike" kern="1200" cap="none" spc="0" baseline="0">
              <a:solidFill>
                <a:srgbClr val="00B0F0"/>
              </a:solidFill>
              <a:latin typeface="Franklin Gothic Book" pitchFamily="0" charset="0"/>
              <a:ea typeface="华文中宋" pitchFamily="0" charset="0"/>
              <a:cs typeface="Lucida Sans" pitchFamily="0" charset="0"/>
            </a:endParaRPr>
          </a:p>
          <a:p>
            <a:pPr marL="305435" indent="-305435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r>
              <a:rPr lang="en-US" altLang="zh-CN" sz="2800" b="1" i="0" u="none" strike="noStrike" kern="1200" cap="none" spc="0" baseline="0">
                <a:solidFill>
                  <a:srgbClr val="000000"/>
                </a:solidFill>
                <a:latin typeface="Franklin Gothic Book" pitchFamily="0" charset="0"/>
                <a:ea typeface="华文中宋" pitchFamily="0" charset="0"/>
                <a:cs typeface="Lucida Sans" pitchFamily="0" charset="0"/>
              </a:rPr>
              <a:t>D</a:t>
            </a:r>
            <a:r>
              <a:rPr lang="en-US" altLang="zh-CN" sz="2800" b="1" i="0" u="none" strike="noStrike" kern="1200" cap="none" spc="0" baseline="0">
                <a:solidFill>
                  <a:srgbClr val="000000"/>
                </a:solidFill>
                <a:latin typeface="Franklin Gothic Book" pitchFamily="0" charset="0"/>
                <a:ea typeface="Franklin Gothic Book" pitchFamily="0" charset="0"/>
                <a:cs typeface="Franklin Gothic Book" pitchFamily="0" charset="0"/>
              </a:rPr>
              <a:t>eployment</a:t>
            </a:r>
            <a:r>
              <a:rPr lang="en-US" altLang="zh-CN" sz="2800" b="1" i="0" u="none" strike="noStrike" kern="1200" cap="none" spc="0" baseline="0">
                <a:solidFill>
                  <a:srgbClr val="00B0F0"/>
                </a:solidFill>
                <a:latin typeface="Franklin Gothic Book" pitchFamily="0" charset="0"/>
                <a:ea typeface="Franklin Gothic Book" pitchFamily="0" charset="0"/>
                <a:cs typeface="Franklin Gothic Book" pitchFamily="0" charset="0"/>
              </a:rPr>
              <a:t> </a:t>
            </a:r>
            <a:r>
              <a:rPr lang="en-US" altLang="zh-CN" sz="2800" b="1" i="0" u="none" strike="noStrike" kern="1200" cap="none" spc="0" baseline="0">
                <a:solidFill>
                  <a:srgbClr val="000000"/>
                </a:solidFill>
                <a:latin typeface="Franklin Gothic Book" pitchFamily="0" charset="0"/>
                <a:ea typeface="Franklin Gothic Book" pitchFamily="0" charset="0"/>
                <a:cs typeface="Franklin Gothic Book" pitchFamily="0" charset="0"/>
              </a:rPr>
              <a:t>link</a:t>
            </a:r>
            <a:r>
              <a:rPr lang="en-US" altLang="zh-CN" sz="2800" b="1" i="0" u="none" strike="noStrike" kern="1200" cap="none" spc="0" baseline="0">
                <a:solidFill>
                  <a:srgbClr val="000000"/>
                </a:solidFill>
                <a:latin typeface="Franklin Gothic Book" pitchFamily="0" charset="0"/>
                <a:ea typeface="Franklin Gothic Book" pitchFamily="0" charset="0"/>
                <a:cs typeface="Franklin Gothic Book" pitchFamily="0" charset="0"/>
              </a:rPr>
              <a:t> :</a:t>
            </a:r>
            <a:endParaRPr lang="en-US" altLang="zh-CN" sz="2800" b="1" i="0" u="none" strike="noStrike" kern="1200" cap="none" spc="0" baseline="0">
              <a:solidFill>
                <a:srgbClr val="00B0F0"/>
              </a:solidFill>
              <a:latin typeface="Franklin Gothic Book" pitchFamily="0" charset="0"/>
              <a:ea typeface="Franklin Gothic Book" pitchFamily="0" charset="0"/>
              <a:cs typeface="Franklin Gothic Book" pitchFamily="0" charset="0"/>
            </a:endParaRPr>
          </a:p>
          <a:p>
            <a:pPr marL="305435" indent="-305435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r>
              <a:rPr lang="en-US" altLang="zh-CN" sz="2800" b="1" i="0" u="none" strike="noStrike" kern="1200" cap="none" spc="0" baseline="0">
                <a:solidFill>
                  <a:srgbClr val="00B0F0"/>
                </a:solidFill>
                <a:latin typeface="Franklin Gothic Book" pitchFamily="0" charset="0"/>
                <a:ea typeface="Franklin Gothic Book" pitchFamily="0" charset="0"/>
                <a:cs typeface="Franklin Gothic Book" pitchFamily="0" charset="0"/>
              </a:rPr>
              <a:t>h</a:t>
            </a:r>
            <a:r>
              <a:rPr lang="en-US" altLang="zh-CN" sz="2800" b="1" i="0" u="none" strike="noStrike" kern="1200" cap="none" spc="0" baseline="0">
                <a:solidFill>
                  <a:srgbClr val="00B0F0"/>
                </a:solidFill>
                <a:latin typeface="Franklin Gothic Book" pitchFamily="0" charset="0"/>
                <a:ea typeface="Franklin Gothic Book" pitchFamily="0" charset="0"/>
                <a:cs typeface="Franklin Gothic Book" pitchFamily="0" charset="0"/>
              </a:rPr>
              <a:t>ttps://ai-powered-studybuddy-wtufejrxa6zydwf2ceh4xn.streamlit.app/</a:t>
            </a:r>
            <a:endParaRPr lang="zh-CN" altLang="en-US" sz="2800" b="1" i="0" u="none" strike="noStrike" kern="1200" cap="none" spc="0" baseline="0">
              <a:solidFill>
                <a:srgbClr val="00B0F0"/>
              </a:solidFill>
              <a:latin typeface="Franklin Gothic Book" pitchFamily="0" charset="0"/>
              <a:ea typeface="华文中宋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387626"/>
      </p:ext>
    </p:extLst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文本框"/>
          <p:cNvSpPr>
            <a:spLocks noGrp="1"/>
          </p:cNvSpPr>
          <p:nvPr>
            <p:ph type="title"/>
          </p:nvPr>
        </p:nvSpPr>
        <p:spPr>
          <a:xfrm rot="0">
            <a:off x="503339" y="882650"/>
            <a:ext cx="11107469" cy="66092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all" spc="0" baseline="0">
                <a:solidFill>
                  <a:schemeClr val="accent1"/>
                </a:solidFill>
                <a:latin typeface="Arial" pitchFamily="34" charset="0"/>
                <a:ea typeface="Franklin Gothic Demi" pitchFamily="0" charset="0"/>
                <a:cs typeface="Arial" pitchFamily="34" charset="0"/>
              </a:rPr>
              <a:t>Conclusion</a:t>
            </a:r>
            <a:endParaRPr lang="zh-CN" altLang="en-US" sz="3600" b="0" i="0" u="none" strike="noStrike" kern="1200" cap="all" spc="0" baseline="0">
              <a:solidFill>
                <a:srgbClr val="404040"/>
              </a:solidFill>
              <a:latin typeface="Franklin Gothic Demi" pitchFamily="0" charset="0"/>
              <a:ea typeface="华文中宋" pitchFamily="0" charset="0"/>
              <a:cs typeface="Lucida Sans" pitchFamily="0" charset="0"/>
            </a:endParaRPr>
          </a:p>
        </p:txBody>
      </p:sp>
      <p:sp>
        <p:nvSpPr>
          <p:cNvPr id="88" name="文本框"/>
          <p:cNvSpPr>
            <a:spLocks noGrp="1"/>
          </p:cNvSpPr>
          <p:nvPr>
            <p:ph type="body" idx="1"/>
          </p:nvPr>
        </p:nvSpPr>
        <p:spPr>
          <a:xfrm rot="0">
            <a:off x="503338" y="752354"/>
            <a:ext cx="11107469" cy="522299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305943" indent="-305943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r>
              <a:rPr lang="en-US" altLang="zh-CN" sz="18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AI Study Buddy simplifies learning by providing </a:t>
            </a:r>
            <a:r>
              <a:rPr lang="en-US" altLang="zh-CN" sz="18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easy explanations, summaries, and quizzes</a:t>
            </a:r>
            <a:r>
              <a:rPr lang="en-US" altLang="zh-CN" sz="18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.</a:t>
            </a:r>
            <a:endParaRPr lang="en-US" altLang="zh-CN" sz="18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05943" indent="-305943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r>
              <a:rPr lang="en-US" altLang="zh-CN" sz="18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Makes self-study </a:t>
            </a:r>
            <a:r>
              <a:rPr lang="en-US" altLang="zh-CN" sz="18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efficient, accessible, and interactive</a:t>
            </a:r>
            <a:r>
              <a:rPr lang="en-US" altLang="zh-CN" sz="18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.</a:t>
            </a:r>
            <a:endParaRPr lang="en-US" altLang="zh-CN" sz="18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05943" indent="-305943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r>
              <a:rPr lang="en-US" altLang="zh-CN" sz="18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Scalable and user-friendly</a:t>
            </a:r>
            <a:r>
              <a:rPr lang="en-US" altLang="zh-CN" sz="18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, with potential for future enhancements.</a:t>
            </a:r>
            <a:endParaRPr lang="en-US" altLang="zh-CN" sz="18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05943" indent="-305943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r>
              <a:rPr lang="en-US" altLang="zh-CN" sz="18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Reduces reliance on </a:t>
            </a:r>
            <a:r>
              <a:rPr lang="en-US" altLang="zh-CN" sz="18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lengthy online searches</a:t>
            </a:r>
            <a:r>
              <a:rPr lang="en-US" altLang="zh-CN" sz="18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 and teacher availability.</a:t>
            </a:r>
            <a:endParaRPr lang="en-US" altLang="zh-CN" sz="18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05943" indent="-305943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r>
              <a:rPr lang="en-US" altLang="zh-CN" sz="18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Supports </a:t>
            </a:r>
            <a:r>
              <a:rPr lang="en-US" altLang="zh-CN" sz="18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personalized and on-demand learning</a:t>
            </a:r>
            <a:r>
              <a:rPr lang="en-US" altLang="zh-CN" sz="18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 for students.</a:t>
            </a:r>
            <a:endParaRPr lang="en-US" altLang="zh-CN" sz="18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05943" indent="-305943" algn="l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r>
              <a:rPr lang="en-US" altLang="zh-CN" sz="18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Demonstrates how </a:t>
            </a:r>
            <a:r>
              <a:rPr lang="en-US" altLang="zh-CN" sz="1800" b="1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AI can enhance education</a:t>
            </a:r>
            <a:r>
              <a:rPr lang="en-US" altLang="zh-CN" sz="1800" b="0" i="0" u="none" strike="noStrike" kern="1200" cap="none" spc="0" baseline="0">
                <a:solidFill>
                  <a:srgbClr val="40404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, making study smarter and more engaging.</a:t>
            </a:r>
            <a:endParaRPr lang="en-US" altLang="zh-CN" sz="18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05943" indent="-305943" algn="just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itchFamily="18" charset="2"/>
              <a:buChar char=""/>
            </a:pPr>
            <a:endParaRPr lang="zh-CN" altLang="en-US" sz="1800" b="0" i="0" u="none" strike="noStrike" kern="1200" cap="none" spc="0" baseline="0">
              <a:solidFill>
                <a:srgbClr val="40404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669925"/>
      </p:ext>
    </p:extLst>
  </p:cSld>
  <p:clrMapOvr>
    <a:masterClrMapping/>
  </p:clrMapOvr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矩形"/>
          <p:cNvSpPr>
            <a:spLocks/>
          </p:cNvSpPr>
          <p:nvPr/>
        </p:nvSpPr>
        <p:spPr>
          <a:xfrm rot="0">
            <a:off x="535670" y="844659"/>
            <a:ext cx="11029616" cy="5302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 defTabSz="45720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300" b="1" i="0" u="none" strike="noStrike" kern="1200" cap="all" spc="0" baseline="0">
                <a:solidFill>
                  <a:schemeClr val="accent1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Future scope(Optional)</a:t>
            </a:r>
            <a:endParaRPr lang="zh-CN" altLang="en-US" sz="3300" b="1" i="0" u="none" strike="noStrike" kern="1200" cap="all" spc="0" baseline="0">
              <a:solidFill>
                <a:schemeClr val="accent1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</p:txBody>
      </p:sp>
      <p:sp>
        <p:nvSpPr>
          <p:cNvPr id="92" name="矩形"/>
          <p:cNvSpPr>
            <a:spLocks/>
          </p:cNvSpPr>
          <p:nvPr/>
        </p:nvSpPr>
        <p:spPr>
          <a:xfrm rot="0">
            <a:off x="535670" y="1411455"/>
            <a:ext cx="9661195" cy="395859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  <a:spAutoFit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Multilingual Support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lvl="1"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Enable explanations, summaries, and quizzes in multiple languages for global users.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Personalized Learning Paths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lvl="1"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Tailor study plans based on student performance and preferences.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Voice Interaction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lvl="1"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Add voice input/output for hands-free learning and better accessibility.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Gamification &amp; Progress Tracking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lvl="1"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Include points, badges, and progress dashboards to increase engagement.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Integration with Learning Platforms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lvl="1"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Connect with Google Classroom, LMS, or other educational apps for seamless study.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Advanced AI Features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lvl="1"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Adaptive quizzes, AI-generated flashcards, and topic recommendations for smarter learning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  <a:p>
            <a:pPr marL="0" indent="0" algn="l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165003"/>
      </p:ext>
    </p:extLst>
  </p:cSld>
  <p:clrMapOvr>
    <a:masterClrMapping/>
  </p:clrMapOvr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文本框"/>
          <p:cNvSpPr>
            <a:spLocks noGrp="1"/>
          </p:cNvSpPr>
          <p:nvPr>
            <p:ph type="title"/>
          </p:nvPr>
        </p:nvSpPr>
        <p:spPr>
          <a:xfrm rot="0">
            <a:off x="581192" y="702155"/>
            <a:ext cx="11029616" cy="5302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all" spc="0" baseline="0">
                <a:solidFill>
                  <a:schemeClr val="accent1"/>
                </a:solidFill>
                <a:latin typeface="Arial" pitchFamily="34" charset="0"/>
                <a:ea typeface="Franklin Gothic Demi" pitchFamily="0" charset="0"/>
                <a:cs typeface="Arial" pitchFamily="34" charset="0"/>
              </a:rPr>
              <a:t>References</a:t>
            </a:r>
            <a:endParaRPr lang="zh-CN" altLang="en-US" sz="2500" b="0" i="0" u="none" strike="noStrike" kern="1200" cap="all" spc="0" baseline="0">
              <a:solidFill>
                <a:srgbClr val="404040"/>
              </a:solidFill>
              <a:latin typeface="Franklin Gothic Demi" pitchFamily="0" charset="0"/>
              <a:ea typeface="华文中宋" pitchFamily="0" charset="0"/>
              <a:cs typeface="Lucida Sans" pitchFamily="0" charset="0"/>
            </a:endParaRPr>
          </a:p>
        </p:txBody>
      </p:sp>
      <p:sp>
        <p:nvSpPr>
          <p:cNvPr id="96" name="矩形"/>
          <p:cNvSpPr>
            <a:spLocks/>
          </p:cNvSpPr>
          <p:nvPr/>
        </p:nvSpPr>
        <p:spPr>
          <a:xfrm rot="0">
            <a:off x="0" y="457200"/>
            <a:ext cx="12192000" cy="15874"/>
          </a:xfrm>
          <a:prstGeom prst="rect"/>
          <a:solidFill>
            <a:srgbClr val="000000"/>
          </a:solidFill>
          <a:ln w="9525" cmpd="sng" cap="flat">
            <a:solidFill>
              <a:srgbClr val="000000"/>
            </a:solidFill>
            <a:prstDash val="solid"/>
            <a:miter/>
          </a:ln>
        </p:spPr>
      </p:sp>
      <p:sp>
        <p:nvSpPr>
          <p:cNvPr id="97" name="矩形"/>
          <p:cNvSpPr>
            <a:spLocks/>
          </p:cNvSpPr>
          <p:nvPr/>
        </p:nvSpPr>
        <p:spPr>
          <a:xfrm rot="0">
            <a:off x="581192" y="1505329"/>
            <a:ext cx="8840600" cy="409194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  <a:spAutoFit/>
          </a:bodyPr>
          <a:lstStyle/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1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华文中宋" pitchFamily="0" charset="0"/>
              <a:cs typeface="Franklin Gothic Book" pitchFamily="0" charset="0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Franklin Gothic Book" pitchFamily="0" charset="0"/>
              </a:rPr>
              <a:t>Martínez, F., et al. (2023)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Franklin Gothic Book" pitchFamily="0" charset="0"/>
              </a:rPr>
              <a:t> – </a:t>
            </a:r>
            <a:r>
              <a:rPr lang="en-US" altLang="zh-CN" sz="1800" b="0" i="1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Franklin Gothic Book" pitchFamily="0" charset="0"/>
              </a:rPr>
              <a:t>Study-Buddy: A Knowledge Graph-Powered Learning Companion for School Students</a:t>
            </a:r>
            <a:br>
              <a:rPr lang="zh-CN" altLang="en-US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Franklin Gothic Book" pitchFamily="0" charset="0"/>
              </a:rPr>
            </a:b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Franklin Gothic Book" pitchFamily="0" charset="0"/>
                <a:hlinkClick r:id="rId1"/>
              </a:rPr>
              <a:t>ResearchGate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华文中宋" pitchFamily="0" charset="0"/>
              <a:cs typeface="Franklin Gothic Book" pitchFamily="0" charset="0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 startAt="2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Franklin Gothic Book" pitchFamily="0" charset="0"/>
              </a:rPr>
              <a:t>Labadze, L. (2023)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Franklin Gothic Book" pitchFamily="0" charset="0"/>
              </a:rPr>
              <a:t> – </a:t>
            </a:r>
            <a:r>
              <a:rPr lang="en-US" altLang="zh-CN" sz="1800" b="0" i="1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Franklin Gothic Book" pitchFamily="0" charset="0"/>
              </a:rPr>
              <a:t>Role of AI Chatbots in Education: Systematic Literature Review</a:t>
            </a:r>
            <a:br>
              <a:rPr lang="zh-CN" altLang="en-US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Franklin Gothic Book" pitchFamily="0" charset="0"/>
              </a:rPr>
            </a:b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Franklin Gothic Book" pitchFamily="0" charset="0"/>
                <a:hlinkClick r:id="rId2"/>
              </a:rPr>
              <a:t>SpringerOpen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华文中宋" pitchFamily="0" charset="0"/>
              <a:cs typeface="Franklin Gothic Book" pitchFamily="0" charset="0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 startAt="3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Franklin Gothic Book" pitchFamily="0" charset="0"/>
              </a:rPr>
              <a:t>Rao, P. K., et al. (2025)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Franklin Gothic Book" pitchFamily="0" charset="0"/>
              </a:rPr>
              <a:t> – </a:t>
            </a:r>
            <a:r>
              <a:rPr lang="en-US" altLang="zh-CN" sz="1800" b="0" i="1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Franklin Gothic Book" pitchFamily="0" charset="0"/>
              </a:rPr>
              <a:t>AI Personal Study Buddy: A Web-Based Adaptive Learning System</a:t>
            </a:r>
            <a:br>
              <a:rPr lang="zh-CN" altLang="en-US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Franklin Gothic Book" pitchFamily="0" charset="0"/>
              </a:rPr>
            </a:b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Franklin Gothic Book" pitchFamily="0" charset="0"/>
                <a:hlinkClick r:id="rId3"/>
              </a:rPr>
              <a:t>IJSDR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华文中宋" pitchFamily="0" charset="0"/>
              <a:cs typeface="Franklin Gothic Book" pitchFamily="0" charset="0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 startAt="4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Franklin Gothic Book" pitchFamily="0" charset="0"/>
              </a:rPr>
              <a:t>Wang, J., et al. (2025)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Franklin Gothic Book" pitchFamily="0" charset="0"/>
              </a:rPr>
              <a:t> – </a:t>
            </a:r>
            <a:r>
              <a:rPr lang="en-US" altLang="zh-CN" sz="1800" b="0" i="1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Franklin Gothic Book" pitchFamily="0" charset="0"/>
              </a:rPr>
              <a:t>AI-Powered Study Buddy: Students' Learning Performance and Perception</a:t>
            </a:r>
            <a:br>
              <a:rPr lang="zh-CN" altLang="en-US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Franklin Gothic Book" pitchFamily="0" charset="0"/>
              </a:rPr>
            </a:b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Franklin Gothic Book" pitchFamily="0" charset="0"/>
                <a:hlinkClick r:id="rId4"/>
              </a:rPr>
              <a:t>Nature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华文中宋" pitchFamily="0" charset="0"/>
              <a:cs typeface="Franklin Gothic Book" pitchFamily="0" charset="0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 startAt="5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Franklin Gothic Book" pitchFamily="0" charset="0"/>
              </a:rPr>
              <a:t>Pappas, C. (2025)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Franklin Gothic Book" pitchFamily="0" charset="0"/>
              </a:rPr>
              <a:t> – </a:t>
            </a:r>
            <a:r>
              <a:rPr lang="en-US" altLang="zh-CN" sz="1800" b="0" i="1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Franklin Gothic Book" pitchFamily="0" charset="0"/>
              </a:rPr>
              <a:t>AI as a Study Buddy: Helping Students Learn Smarter</a:t>
            </a:r>
            <a:br>
              <a:rPr lang="zh-CN" altLang="en-US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Franklin Gothic Book" pitchFamily="0" charset="0"/>
              </a:rPr>
            </a:b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华文中宋" pitchFamily="0" charset="0"/>
                <a:cs typeface="Franklin Gothic Book" pitchFamily="0" charset="0"/>
                <a:hlinkClick r:id="rId5"/>
              </a:rPr>
              <a:t>eLearning Industry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华文中宋" pitchFamily="0" charset="0"/>
              <a:cs typeface="Franklin Gothic Book" pitchFamily="0" charset="0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华文中宋" pitchFamily="0" charset="0"/>
              <a:cs typeface="Franklin Gothic Book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879409"/>
      </p:ext>
    </p:extLst>
  </p:cSld>
  <p:clrMapOvr>
    <a:masterClrMapping/>
  </p:clrMapOvr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文本框"/>
          <p:cNvSpPr>
            <a:spLocks noGrp="1"/>
          </p:cNvSpPr>
          <p:nvPr>
            <p:ph type="title"/>
          </p:nvPr>
        </p:nvSpPr>
        <p:spPr>
          <a:xfrm rot="0">
            <a:off x="1463041" y="2766217"/>
            <a:ext cx="9298745" cy="132556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all" spc="0" baseline="0">
                <a:solidFill>
                  <a:srgbClr val="002060"/>
                </a:solidFill>
                <a:latin typeface="Arial" pitchFamily="34" charset="0"/>
                <a:ea typeface="华文中宋" pitchFamily="0" charset="0"/>
                <a:cs typeface="Arial" pitchFamily="34" charset="0"/>
              </a:rPr>
              <a:t>THANK YOU</a:t>
            </a:r>
            <a:endParaRPr lang="zh-CN" altLang="en-US" sz="2800" b="1" i="0" u="none" strike="noStrike" kern="1200" cap="all" spc="0" baseline="0">
              <a:solidFill>
                <a:srgbClr val="002060"/>
              </a:solidFill>
              <a:latin typeface="Arial" pitchFamily="34" charset="0"/>
              <a:ea typeface="华文中宋" pitchFamily="0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5402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DividendVT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VTI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DividendVTI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1740</TotalTime>
  <Application>Yozo_Office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SkillsBuild Partner Update template</dc:title>
  <dc:creator>Vaibhav Ostwal</dc:creator>
  <cp:lastModifiedBy>root</cp:lastModifiedBy>
  <cp:revision>59</cp:revision>
  <dcterms:created xsi:type="dcterms:W3CDTF">2021-05-26T16:50:10Z</dcterms:created>
  <dcterms:modified xsi:type="dcterms:W3CDTF">2026-06-16T08:31:58Z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ContentTypeId">
    <vt:lpwstr>0x0101000F1872188ABCFC48BECA6C87E8AC3285</vt:lpwstr>
  </property>
</Properties>
</file>